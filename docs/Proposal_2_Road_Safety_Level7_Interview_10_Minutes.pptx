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ptos"/>
              </a:rPr>
              <a:t>Click to move the slide</a:t>
            </a:r>
            <a:endParaRPr b="0" lang="en-US" sz="1800" spc="-1" strike="noStrike">
              <a:solidFill>
                <a:schemeClr val="dk1"/>
              </a:solidFill>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0E5436C-861F-45AF-8EC9-6A5411E6350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6040" cy="308592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0:55. Open with the question: Can data analytics help us make roads safer? The teaching challenge is to move students beyond building a model towards constructing evidence they can defend. I propose six connected laboratory units organised around a real Department for Transport road-safety dataset. Each practical develops computational capability, statistical judgement and an understanding of responsible deployment. These are illustrative lab units, not a claim about the approved weekly timetable. Transition: first, what should Level 7 students actually be able to do?</a:t>
            </a:r>
            <a:endParaRPr b="0" lang="en-US" sz="2000" spc="-1" strike="noStrike">
              <a:solidFill>
                <a:srgbClr val="000000"/>
              </a:solidFill>
              <a:latin typeface="Arial"/>
            </a:endParaRPr>
          </a:p>
        </p:txBody>
      </p:sp>
      <p:sp>
        <p:nvSpPr>
          <p:cNvPr id="184"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16A57AE-04F7-41FC-BECF-0D2B911B63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1:15. My design begins with four measurable outcomes. Students formulate the analytics problem, engineer reproducible data, critically justify statistics and models, and communicate appropriately qualified recommendations. The difference from many undergraduate exercises is the quality of judgement required. I would not mark a notebook solely because the code runs; I want the learner to explain why a method answers the intended question, what assumptions it relies upon and whether a claim would withstand scrutiny. Lab activities and the formative evidence are aligned to those four outcomes. Transition: a road-safety case gives every laboratory an authentic thread.</a:t>
            </a:r>
            <a:endParaRPr b="0" lang="en-US" sz="2000" spc="-1" strike="noStrike">
              <a:solidFill>
                <a:srgbClr val="000000"/>
              </a:solidFill>
              <a:latin typeface="Arial"/>
            </a:endParaRPr>
          </a:p>
        </p:txBody>
      </p:sp>
      <p:sp>
        <p:nvSpPr>
          <p:cNvPr id="187"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3A93848-51FE-4061-9694-B5922D367A3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1:15. The case uses the Department for Transport STATS19 open data, which contains police-reported personal-injury collisions, vehicles and casualties in Great Britain. The latest final full year currently available is 2025. I would supply a curated sample for the classroom and links to the original extract and coding guide, with a clear data dictionary. Students must handle keys carefully: collisions and casualties are not the same observation unit. Important caveats include under-reporting, coded missingness, changing severity recording practices and the distinction between association and causal effects. We must never imply that a model reveals a proven road-safety intervention. Transition: here is the six-lab progression.</a:t>
            </a:r>
            <a:endParaRPr b="0" lang="en-US" sz="2000" spc="-1" strike="noStrike">
              <a:solidFill>
                <a:srgbClr val="000000"/>
              </a:solidFill>
              <a:latin typeface="Arial"/>
            </a:endParaRPr>
          </a:p>
        </p:txBody>
      </p:sp>
      <p:sp>
        <p:nvSpPr>
          <p:cNvPr id="190"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C0AFB4C-4B5C-4222-A93E-D8D8C695688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2:00. This is the central slide and deserves the most attention. Lab 1: define the stakeholder question, unit of analysis and what evidence would count as success. Lab 2: reconstruct an analysis-ready dataset, joining the collision, vehicle and casualty records without accidental duplication. Lab 3: quantify associations with descriptive analyses, intervals and carefully chosen tests. Lab 4: examine latent structure using PCA and clustering, and where suitable explore association rules, always questioning whether patterns are meaningful. Lab 5: compare interpretable logistic regression and decision tree baselines using leakage-safe preprocessing. Lab 6: evaluate with minority-class recall, precision, calibration, subgroup robustness, limitations and policy-facing communication. These are connected learning blocks rather than six isolated algorithm demonstrations. In practice students may loop back to cleaning when they see suspicious model behaviour. Transition: here is a five-minute extract from the sort of student challenge I would use.</a:t>
            </a:r>
            <a:endParaRPr b="0" lang="en-US" sz="2000" spc="-1" strike="noStrike">
              <a:solidFill>
                <a:srgbClr val="000000"/>
              </a:solidFill>
              <a:latin typeface="Arial"/>
            </a:endParaRPr>
          </a:p>
        </p:txBody>
      </p:sp>
      <p:sp>
        <p:nvSpPr>
          <p:cNvPr id="193"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83930ED-5173-472A-B122-FA469F57535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1:30. Pose the question before revealing the calculations. In this entirely synthetic example, 920 predictions are correct out of 1,000, giving 92 percent accuracy. But only 30 of 100 high-severity cases are identified, so recall is 30 percent. Precision for high severity is 30 divided by 40, or 75 percent. A trivial always-low model would score 90 percent accuracy yet detect no high-severity cases. Students work in pairs to calculate metrics, defend which errors matter, ask about prevalence and calibration, then recommend further validation. Crucially, collision severity may be determined after an incident: this is an analytical exercise, not a claim that we could predict a future crash or deliver real-time preventive action. Transition: how will students with different experience levels engage with this?</a:t>
            </a:r>
            <a:endParaRPr b="0" lang="en-US" sz="2000" spc="-1" strike="noStrike">
              <a:solidFill>
                <a:srgbClr val="000000"/>
              </a:solidFill>
              <a:latin typeface="Arial"/>
            </a:endParaRPr>
          </a:p>
        </p:txBody>
      </p:sp>
      <p:sp>
        <p:nvSpPr>
          <p:cNvPr id="196"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41423AF-79AF-4F55-AE21-15E644BDC9F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1:10. Level 7 cohorts may include experienced developers and students transferring from quantitative or other disciplines. I start with a diagnostic concept check, provide annotated notebooks, glossary, accessible datasets, and code alternatives where feasible. During labs I combine a short live worked example with pair discussion and formative checkpoints. Novices receive structured starter code while advanced students investigate calibration, class weights or validation stability. Every student is still required to justify design decisions and limitations. I would follow accessible design and student support procedures. I would also explicitly teach appropriate disclosure and verification of AI-assisted code. Transition: assessment must show that the learning goals have actually been achieved.</a:t>
            </a:r>
            <a:endParaRPr b="0" lang="en-US" sz="2000" spc="-1" strike="noStrike">
              <a:solidFill>
                <a:srgbClr val="000000"/>
              </a:solidFill>
              <a:latin typeface="Arial"/>
            </a:endParaRPr>
          </a:p>
        </p:txBody>
      </p:sp>
      <p:sp>
        <p:nvSpPr>
          <p:cNvPr id="199"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14A1E61-C9FC-4E0C-99AD-AE0B4018D93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1:55. Formative assessment happens throughout the pathway: validation checks, peer explanations and feedback on assumptions, not just polished output. The authentic culmination is a reproducible analysis notebook and a brief written for a road-safety decision-maker. I would align activities and evidence with the current approved module learning outcomes and assessment regulations, rather than assume the authority to alter assessed components. Marking criteria should reward data integrity, justification, robustness, reproducibility, ethical interpretation and communication. Be explicit: we are not claiming causality from observational patterns. End: My goal is not merely to teach tools; it is to help students produce trustworthy analysis and defend the decisions built upon it. The final line is the take-home message. Finish within ten minutes.</a:t>
            </a:r>
            <a:endParaRPr b="0" lang="en-US" sz="2000" spc="-1" strike="noStrike">
              <a:solidFill>
                <a:srgbClr val="000000"/>
              </a:solidFill>
              <a:latin typeface="Arial"/>
            </a:endParaRPr>
          </a:p>
        </p:txBody>
      </p:sp>
      <p:sp>
        <p:nvSpPr>
          <p:cNvPr id="202"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4ADDFF-15B6-4BE0-9399-05889C030B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Click to edit the title text format</a:t>
            </a:r>
            <a:endParaRPr b="0" lang="en-US" sz="1800" spc="-1" strike="noStrike">
              <a:solidFill>
                <a:schemeClr val="dk1"/>
              </a:solidFill>
              <a:latin typeface="Aptos"/>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ptos"/>
              </a:rPr>
              <a:t>Second Outline Level</a:t>
            </a:r>
            <a:endParaRPr b="0" lang="en-US"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ptos"/>
              </a:rPr>
              <a:t>Third Outline Level</a:t>
            </a:r>
            <a:endParaRPr b="0" lang="en-US"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ptos"/>
              </a:rPr>
              <a:t>Fourth Outline Level</a:t>
            </a:r>
            <a:endParaRPr b="0" lang="en-US"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f35"/>
        </a:solidFill>
      </p:bgPr>
    </p:bg>
    <p:spTree>
      <p:nvGrpSpPr>
        <p:cNvPr id="1" name=""/>
        <p:cNvGrpSpPr/>
        <p:nvPr/>
      </p:nvGrpSpPr>
      <p:grpSpPr>
        <a:xfrm>
          <a:off x="0" y="0"/>
          <a:ext cx="0" cy="0"/>
          <a:chOff x="0" y="0"/>
          <a:chExt cx="0" cy="0"/>
        </a:xfrm>
      </p:grpSpPr>
      <p:sp>
        <p:nvSpPr>
          <p:cNvPr id="8" name="Shape 0"/>
          <p:cNvSpPr/>
          <p:nvPr/>
        </p:nvSpPr>
        <p:spPr>
          <a:xfrm>
            <a:off x="0" y="0"/>
            <a:ext cx="164160" cy="685764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Text 1"/>
          <p:cNvSpPr/>
          <p:nvPr/>
        </p:nvSpPr>
        <p:spPr>
          <a:xfrm>
            <a:off x="713160" y="1033200"/>
            <a:ext cx="10515240" cy="1554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900" spc="-1" strike="noStrike">
                <a:solidFill>
                  <a:srgbClr val="ffffff"/>
                </a:solidFill>
                <a:latin typeface="Aptos"/>
                <a:ea typeface="Aptos"/>
              </a:rPr>
              <a:t>CAN DATA ANALYTICS</a:t>
            </a:r>
            <a:endParaRPr b="0" lang="en-US" sz="3900" spc="-1" strike="noStrike">
              <a:solidFill>
                <a:srgbClr val="ffffff"/>
              </a:solidFill>
              <a:latin typeface="Arial"/>
            </a:endParaRPr>
          </a:p>
          <a:p>
            <a:pPr defTabSz="914400">
              <a:lnSpc>
                <a:spcPct val="100000"/>
              </a:lnSpc>
              <a:tabLst>
                <a:tab algn="l" pos="0"/>
              </a:tabLst>
            </a:pPr>
            <a:r>
              <a:rPr b="1" lang="en-US" sz="3900" spc="-1" strike="noStrike">
                <a:solidFill>
                  <a:srgbClr val="ffffff"/>
                </a:solidFill>
                <a:latin typeface="Aptos"/>
                <a:ea typeface="Aptos"/>
              </a:rPr>
              <a:t>MAKE OUR ROADS SAFER?</a:t>
            </a:r>
            <a:endParaRPr b="0" lang="en-US" sz="3900" spc="-1" strike="noStrike">
              <a:solidFill>
                <a:srgbClr val="ffffff"/>
              </a:solidFill>
              <a:latin typeface="Arial"/>
            </a:endParaRPr>
          </a:p>
        </p:txBody>
      </p:sp>
      <p:sp>
        <p:nvSpPr>
          <p:cNvPr id="10" name="Text 2"/>
          <p:cNvSpPr/>
          <p:nvPr/>
        </p:nvSpPr>
        <p:spPr>
          <a:xfrm>
            <a:off x="749880" y="2788920"/>
            <a:ext cx="10515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200" spc="-1" strike="noStrike">
                <a:solidFill>
                  <a:srgbClr val="bee1e4"/>
                </a:solidFill>
                <a:latin typeface="Aptos"/>
                <a:ea typeface="Aptos"/>
              </a:rPr>
              <a:t>From open data to defensible road-safety decisions</a:t>
            </a:r>
            <a:endParaRPr b="0" lang="en-US" sz="2200" spc="-1" strike="noStrike">
              <a:solidFill>
                <a:srgbClr val="ffffff"/>
              </a:solidFill>
              <a:latin typeface="Arial"/>
            </a:endParaRPr>
          </a:p>
        </p:txBody>
      </p:sp>
      <p:sp>
        <p:nvSpPr>
          <p:cNvPr id="11" name="Shape 3"/>
          <p:cNvSpPr/>
          <p:nvPr/>
        </p:nvSpPr>
        <p:spPr>
          <a:xfrm>
            <a:off x="749880" y="3940920"/>
            <a:ext cx="9984960" cy="1078560"/>
          </a:xfrm>
          <a:prstGeom prst="roundRect">
            <a:avLst>
              <a:gd name="adj" fmla="val 13559"/>
            </a:avLst>
          </a:prstGeom>
          <a:solidFill>
            <a:srgbClr val="20384e"/>
          </a:solidFill>
          <a:ln w="12700">
            <a:solidFill>
              <a:srgbClr val="20384e">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Text 4"/>
          <p:cNvSpPr/>
          <p:nvPr/>
        </p:nvSpPr>
        <p:spPr>
          <a:xfrm>
            <a:off x="941760" y="4242960"/>
            <a:ext cx="9646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Aptos"/>
                <a:ea typeface="Aptos"/>
              </a:rPr>
              <a:t>Six connected Level 7 labs  •  CRISP-DM  •  Python / R  •  Critical evaluation</a:t>
            </a:r>
            <a:endParaRPr b="0" lang="en-US" sz="1700" spc="-1" strike="noStrike">
              <a:solidFill>
                <a:srgbClr val="ffffff"/>
              </a:solidFill>
              <a:latin typeface="Arial"/>
            </a:endParaRPr>
          </a:p>
        </p:txBody>
      </p:sp>
      <p:sp>
        <p:nvSpPr>
          <p:cNvPr id="13" name="Text 5"/>
          <p:cNvSpPr/>
          <p:nvPr/>
        </p:nvSpPr>
        <p:spPr>
          <a:xfrm>
            <a:off x="758880" y="6327720"/>
            <a:ext cx="105152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8c8d8"/>
                </a:solidFill>
                <a:latin typeface="Aptos"/>
                <a:ea typeface="Aptos"/>
              </a:rPr>
              <a:t>Lecturer in Data Science and Artificial Intelligence  |  Interview Activity 1</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Learning Outcomes</a:t>
            </a:r>
            <a:endParaRPr b="0" lang="en-US" sz="2800" spc="-1" strike="noStrike">
              <a:solidFill>
                <a:srgbClr val="000000"/>
              </a:solidFill>
              <a:latin typeface="Arial"/>
            </a:endParaRPr>
          </a:p>
        </p:txBody>
      </p:sp>
      <p:sp>
        <p:nvSpPr>
          <p:cNvPr id="16"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7"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8"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9"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02</a:t>
            </a:r>
            <a:endParaRPr b="0" lang="en-US" sz="1000" spc="-1" strike="noStrike">
              <a:solidFill>
                <a:srgbClr val="000000"/>
              </a:solidFill>
              <a:latin typeface="Arial"/>
            </a:endParaRPr>
          </a:p>
        </p:txBody>
      </p:sp>
      <p:sp>
        <p:nvSpPr>
          <p:cNvPr id="20" name="Shape 6"/>
          <p:cNvSpPr/>
          <p:nvPr/>
        </p:nvSpPr>
        <p:spPr>
          <a:xfrm>
            <a:off x="667440" y="1554480"/>
            <a:ext cx="10835280" cy="79524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 name="Shape 7"/>
          <p:cNvSpPr/>
          <p:nvPr/>
        </p:nvSpPr>
        <p:spPr>
          <a:xfrm>
            <a:off x="887040" y="176472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Text 8"/>
          <p:cNvSpPr/>
          <p:nvPr/>
        </p:nvSpPr>
        <p:spPr>
          <a:xfrm>
            <a:off x="960120" y="179208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FRAME</a:t>
            </a:r>
            <a:endParaRPr b="0" lang="en-US" sz="1100" spc="-1" strike="noStrike">
              <a:solidFill>
                <a:srgbClr val="000000"/>
              </a:solidFill>
              <a:latin typeface="Arial"/>
            </a:endParaRPr>
          </a:p>
        </p:txBody>
      </p:sp>
      <p:sp>
        <p:nvSpPr>
          <p:cNvPr id="23" name="Text 9"/>
          <p:cNvSpPr/>
          <p:nvPr/>
        </p:nvSpPr>
        <p:spPr>
          <a:xfrm>
            <a:off x="2514600" y="170064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Translate a public-safety question into measurable analytical objectives</a:t>
            </a:r>
            <a:endParaRPr b="0" lang="en-US" sz="1900" spc="-1" strike="noStrike">
              <a:solidFill>
                <a:srgbClr val="000000"/>
              </a:solidFill>
              <a:latin typeface="Arial"/>
            </a:endParaRPr>
          </a:p>
        </p:txBody>
      </p:sp>
      <p:sp>
        <p:nvSpPr>
          <p:cNvPr id="24" name="Shape 10"/>
          <p:cNvSpPr/>
          <p:nvPr/>
        </p:nvSpPr>
        <p:spPr>
          <a:xfrm>
            <a:off x="667440" y="2569320"/>
            <a:ext cx="10835280" cy="79524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Shape 11"/>
          <p:cNvSpPr/>
          <p:nvPr/>
        </p:nvSpPr>
        <p:spPr>
          <a:xfrm>
            <a:off x="887040" y="277992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Text 12"/>
          <p:cNvSpPr/>
          <p:nvPr/>
        </p:nvSpPr>
        <p:spPr>
          <a:xfrm>
            <a:off x="960120" y="280728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BUILD</a:t>
            </a:r>
            <a:endParaRPr b="0" lang="en-US" sz="1100" spc="-1" strike="noStrike">
              <a:solidFill>
                <a:srgbClr val="000000"/>
              </a:solidFill>
              <a:latin typeface="Arial"/>
            </a:endParaRPr>
          </a:p>
        </p:txBody>
      </p:sp>
      <p:sp>
        <p:nvSpPr>
          <p:cNvPr id="27" name="Text 13"/>
          <p:cNvSpPr/>
          <p:nvPr/>
        </p:nvSpPr>
        <p:spPr>
          <a:xfrm>
            <a:off x="2514600" y="271584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Prepare and analyse reproducible datasets using suitable tools</a:t>
            </a:r>
            <a:endParaRPr b="0" lang="en-US" sz="1900" spc="-1" strike="noStrike">
              <a:solidFill>
                <a:srgbClr val="000000"/>
              </a:solidFill>
              <a:latin typeface="Arial"/>
            </a:endParaRPr>
          </a:p>
        </p:txBody>
      </p:sp>
      <p:sp>
        <p:nvSpPr>
          <p:cNvPr id="28" name="Shape 14"/>
          <p:cNvSpPr/>
          <p:nvPr/>
        </p:nvSpPr>
        <p:spPr>
          <a:xfrm>
            <a:off x="667440" y="3584520"/>
            <a:ext cx="10835280" cy="79524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 name="Shape 15"/>
          <p:cNvSpPr/>
          <p:nvPr/>
        </p:nvSpPr>
        <p:spPr>
          <a:xfrm>
            <a:off x="887040" y="3794760"/>
            <a:ext cx="136224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Text 16"/>
          <p:cNvSpPr/>
          <p:nvPr/>
        </p:nvSpPr>
        <p:spPr>
          <a:xfrm>
            <a:off x="960120" y="382212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CRITIQUE</a:t>
            </a:r>
            <a:endParaRPr b="0" lang="en-US" sz="1100" spc="-1" strike="noStrike">
              <a:solidFill>
                <a:srgbClr val="000000"/>
              </a:solidFill>
              <a:latin typeface="Arial"/>
            </a:endParaRPr>
          </a:p>
        </p:txBody>
      </p:sp>
      <p:sp>
        <p:nvSpPr>
          <p:cNvPr id="31" name="Text 17"/>
          <p:cNvSpPr/>
          <p:nvPr/>
        </p:nvSpPr>
        <p:spPr>
          <a:xfrm>
            <a:off x="2514600" y="373068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Justify methods, test assumptions and assess uncertainty</a:t>
            </a:r>
            <a:endParaRPr b="0" lang="en-US" sz="1900" spc="-1" strike="noStrike">
              <a:solidFill>
                <a:srgbClr val="000000"/>
              </a:solidFill>
              <a:latin typeface="Arial"/>
            </a:endParaRPr>
          </a:p>
        </p:txBody>
      </p:sp>
      <p:sp>
        <p:nvSpPr>
          <p:cNvPr id="32" name="Shape 18"/>
          <p:cNvSpPr/>
          <p:nvPr/>
        </p:nvSpPr>
        <p:spPr>
          <a:xfrm>
            <a:off x="667440" y="4599360"/>
            <a:ext cx="10835280" cy="79524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 name="Shape 19"/>
          <p:cNvSpPr/>
          <p:nvPr/>
        </p:nvSpPr>
        <p:spPr>
          <a:xfrm>
            <a:off x="887040" y="480960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Text 20"/>
          <p:cNvSpPr/>
          <p:nvPr/>
        </p:nvSpPr>
        <p:spPr>
          <a:xfrm>
            <a:off x="960120" y="483732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COMMUNICATE</a:t>
            </a:r>
            <a:endParaRPr b="0" lang="en-US" sz="1100" spc="-1" strike="noStrike">
              <a:solidFill>
                <a:srgbClr val="000000"/>
              </a:solidFill>
              <a:latin typeface="Arial"/>
            </a:endParaRPr>
          </a:p>
        </p:txBody>
      </p:sp>
      <p:sp>
        <p:nvSpPr>
          <p:cNvPr id="35" name="Text 21"/>
          <p:cNvSpPr/>
          <p:nvPr/>
        </p:nvSpPr>
        <p:spPr>
          <a:xfrm>
            <a:off x="2514600" y="474588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Present qualified recommendations to technical and non-technical audiences</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Can Data Analytics make our roads safer?</a:t>
            </a:r>
            <a:endParaRPr b="0" lang="en-US" sz="2800" spc="-1" strike="noStrike">
              <a:solidFill>
                <a:srgbClr val="000000"/>
              </a:solidFill>
              <a:latin typeface="Arial"/>
            </a:endParaRPr>
          </a:p>
        </p:txBody>
      </p:sp>
      <p:sp>
        <p:nvSpPr>
          <p:cNvPr id="38"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Department for Transport STATS19: collision, vehicle and casualty records</a:t>
            </a:r>
            <a:endParaRPr b="0" lang="en-US" sz="1400" spc="-1" strike="noStrike">
              <a:solidFill>
                <a:srgbClr val="000000"/>
              </a:solidFill>
              <a:latin typeface="Arial"/>
            </a:endParaRPr>
          </a:p>
        </p:txBody>
      </p:sp>
      <p:sp>
        <p:nvSpPr>
          <p:cNvPr id="39"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40"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41"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03</a:t>
            </a:r>
            <a:endParaRPr b="0" lang="en-US" sz="1000" spc="-1" strike="noStrike">
              <a:solidFill>
                <a:srgbClr val="000000"/>
              </a:solidFill>
              <a:latin typeface="Arial"/>
            </a:endParaRPr>
          </a:p>
        </p:txBody>
      </p:sp>
      <p:sp>
        <p:nvSpPr>
          <p:cNvPr id="42" name="Shape 6"/>
          <p:cNvSpPr/>
          <p:nvPr/>
        </p:nvSpPr>
        <p:spPr>
          <a:xfrm>
            <a:off x="640080" y="1527120"/>
            <a:ext cx="6903360" cy="4434480"/>
          </a:xfrm>
          <a:prstGeom prst="roundRect">
            <a:avLst>
              <a:gd name="adj" fmla="val 329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Text 7"/>
          <p:cNvSpPr/>
          <p:nvPr/>
        </p:nvSpPr>
        <p:spPr>
          <a:xfrm>
            <a:off x="923400" y="1819800"/>
            <a:ext cx="61261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047e83"/>
                </a:solidFill>
                <a:latin typeface="Aptos"/>
                <a:ea typeface="Aptos"/>
              </a:rPr>
              <a:t>Driving question</a:t>
            </a:r>
            <a:endParaRPr b="0" lang="en-US" sz="1600" spc="-1" strike="noStrike">
              <a:solidFill>
                <a:srgbClr val="000000"/>
              </a:solidFill>
              <a:latin typeface="Arial"/>
            </a:endParaRPr>
          </a:p>
        </p:txBody>
      </p:sp>
      <p:sp>
        <p:nvSpPr>
          <p:cNvPr id="44" name="Text 8"/>
          <p:cNvSpPr/>
          <p:nvPr/>
        </p:nvSpPr>
        <p:spPr>
          <a:xfrm>
            <a:off x="941760" y="2322720"/>
            <a:ext cx="6126120" cy="1115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d304b"/>
                </a:solidFill>
                <a:latin typeface="Aptos"/>
                <a:ea typeface="Aptos"/>
              </a:rPr>
              <a:t>Which recorded conditions are associated with more severe collisions — and what can we responsibly conclude?</a:t>
            </a:r>
            <a:endParaRPr b="0" lang="en-US" sz="2300" spc="-1" strike="noStrike">
              <a:solidFill>
                <a:srgbClr val="000000"/>
              </a:solidFill>
              <a:latin typeface="Arial"/>
            </a:endParaRPr>
          </a:p>
        </p:txBody>
      </p:sp>
      <p:sp>
        <p:nvSpPr>
          <p:cNvPr id="45" name="Shape 9"/>
          <p:cNvSpPr/>
          <p:nvPr/>
        </p:nvSpPr>
        <p:spPr>
          <a:xfrm>
            <a:off x="951120" y="3785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46" name="Text 10"/>
          <p:cNvSpPr/>
          <p:nvPr/>
        </p:nvSpPr>
        <p:spPr>
          <a:xfrm>
            <a:off x="1161360" y="365760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Join collisions, vehicles and casualties at the correct unit of analysis</a:t>
            </a:r>
            <a:endParaRPr b="0" lang="en-US" sz="1400" spc="-1" strike="noStrike">
              <a:solidFill>
                <a:srgbClr val="000000"/>
              </a:solidFill>
              <a:latin typeface="Arial"/>
            </a:endParaRPr>
          </a:p>
        </p:txBody>
      </p:sp>
      <p:sp>
        <p:nvSpPr>
          <p:cNvPr id="47" name="Shape 11"/>
          <p:cNvSpPr/>
          <p:nvPr/>
        </p:nvSpPr>
        <p:spPr>
          <a:xfrm>
            <a:off x="951120" y="4389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48" name="Text 12"/>
          <p:cNvSpPr/>
          <p:nvPr/>
        </p:nvSpPr>
        <p:spPr>
          <a:xfrm>
            <a:off x="1161360" y="426096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Understand categorical coding and missing / unknown values</a:t>
            </a:r>
            <a:endParaRPr b="0" lang="en-US" sz="1400" spc="-1" strike="noStrike">
              <a:solidFill>
                <a:srgbClr val="000000"/>
              </a:solidFill>
              <a:latin typeface="Arial"/>
            </a:endParaRPr>
          </a:p>
        </p:txBody>
      </p:sp>
      <p:sp>
        <p:nvSpPr>
          <p:cNvPr id="49" name="Shape 13"/>
          <p:cNvSpPr/>
          <p:nvPr/>
        </p:nvSpPr>
        <p:spPr>
          <a:xfrm>
            <a:off x="951120" y="49924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50" name="Text 14"/>
          <p:cNvSpPr/>
          <p:nvPr/>
        </p:nvSpPr>
        <p:spPr>
          <a:xfrm>
            <a:off x="1161360" y="486468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Recognise police-reporting and severity-measurement limitations</a:t>
            </a:r>
            <a:endParaRPr b="0" lang="en-US" sz="1400" spc="-1" strike="noStrike">
              <a:solidFill>
                <a:srgbClr val="000000"/>
              </a:solidFill>
              <a:latin typeface="Arial"/>
            </a:endParaRPr>
          </a:p>
        </p:txBody>
      </p:sp>
      <p:sp>
        <p:nvSpPr>
          <p:cNvPr id="51" name="Shape 15"/>
          <p:cNvSpPr/>
          <p:nvPr/>
        </p:nvSpPr>
        <p:spPr>
          <a:xfrm>
            <a:off x="7818120" y="1527120"/>
            <a:ext cx="3730320" cy="4434480"/>
          </a:xfrm>
          <a:prstGeom prst="roundRect">
            <a:avLst>
              <a:gd name="adj" fmla="val 3922"/>
            </a:avLst>
          </a:prstGeom>
          <a:solidFill>
            <a:srgbClr val="e6f4f2"/>
          </a:solidFill>
          <a:ln w="12700">
            <a:solidFill>
              <a:srgbClr val="e6f4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 name="Text 16"/>
          <p:cNvSpPr/>
          <p:nvPr/>
        </p:nvSpPr>
        <p:spPr>
          <a:xfrm>
            <a:off x="8138160" y="1847160"/>
            <a:ext cx="31086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2025 DATASET</a:t>
            </a:r>
            <a:endParaRPr b="0" lang="en-US" sz="1400" spc="-1" strike="noStrike">
              <a:solidFill>
                <a:srgbClr val="000000"/>
              </a:solidFill>
              <a:latin typeface="Arial"/>
            </a:endParaRPr>
          </a:p>
        </p:txBody>
      </p:sp>
      <p:sp>
        <p:nvSpPr>
          <p:cNvPr id="53" name="Text 17"/>
          <p:cNvSpPr/>
          <p:nvPr/>
        </p:nvSpPr>
        <p:spPr>
          <a:xfrm>
            <a:off x="8119800" y="2350080"/>
            <a:ext cx="306288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Open, real,</a:t>
            </a:r>
            <a:endParaRPr b="0" lang="en-US" sz="2500" spc="-1" strike="noStrike">
              <a:solidFill>
                <a:srgbClr val="000000"/>
              </a:solidFill>
              <a:latin typeface="Arial"/>
            </a:endParaRPr>
          </a:p>
          <a:p>
            <a:pPr defTabSz="914400">
              <a:lnSpc>
                <a:spcPct val="100000"/>
              </a:lnSpc>
              <a:tabLst>
                <a:tab algn="l" pos="0"/>
              </a:tabLst>
            </a:pPr>
            <a:r>
              <a:rPr b="1" lang="en-US" sz="2500" spc="-1" strike="noStrike">
                <a:solidFill>
                  <a:srgbClr val="1d304b"/>
                </a:solidFill>
                <a:latin typeface="Aptos"/>
                <a:ea typeface="Aptos"/>
              </a:rPr>
              <a:t>reproducible</a:t>
            </a:r>
            <a:endParaRPr b="0" lang="en-US" sz="2500" spc="-1" strike="noStrike">
              <a:solidFill>
                <a:srgbClr val="000000"/>
              </a:solidFill>
              <a:latin typeface="Arial"/>
            </a:endParaRPr>
          </a:p>
        </p:txBody>
      </p:sp>
      <p:sp>
        <p:nvSpPr>
          <p:cNvPr id="54" name="Text 18"/>
          <p:cNvSpPr/>
          <p:nvPr/>
        </p:nvSpPr>
        <p:spPr>
          <a:xfrm>
            <a:off x="8129160" y="3996000"/>
            <a:ext cx="30171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1d304b"/>
                </a:solidFill>
                <a:latin typeface="Aptos"/>
                <a:ea typeface="Aptos"/>
              </a:rPr>
              <a:t>Data source: GOV.UK</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Road safety open data</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Latest final year: 2025</a:t>
            </a:r>
            <a:endParaRPr b="0" lang="en-US" sz="1500" spc="-1" strike="noStrike">
              <a:solidFill>
                <a:srgbClr val="000000"/>
              </a:solidFill>
              <a:latin typeface="Arial"/>
            </a:endParaRPr>
          </a:p>
        </p:txBody>
      </p:sp>
      <p:sp>
        <p:nvSpPr>
          <p:cNvPr id="55" name="Text 19"/>
          <p:cNvSpPr/>
          <p:nvPr/>
        </p:nvSpPr>
        <p:spPr>
          <a:xfrm>
            <a:off x="685800" y="6080760"/>
            <a:ext cx="106981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66778a"/>
                </a:solidFill>
                <a:latin typeface="Aptos"/>
                <a:ea typeface="Aptos"/>
              </a:rPr>
              <a:t>Source: gov.uk/government/statistical-data-sets/road-safety-open-data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Six connected laboratories: a CRISP-DM journey</a:t>
            </a:r>
            <a:endParaRPr b="0" lang="en-US" sz="2800" spc="-1" strike="noStrike">
              <a:solidFill>
                <a:srgbClr val="000000"/>
              </a:solidFill>
              <a:latin typeface="Arial"/>
            </a:endParaRPr>
          </a:p>
        </p:txBody>
      </p:sp>
      <p:sp>
        <p:nvSpPr>
          <p:cNvPr id="58"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An illustrative progression, revisited iteratively as evidence develops</a:t>
            </a:r>
            <a:endParaRPr b="0" lang="en-US" sz="1400" spc="-1" strike="noStrike">
              <a:solidFill>
                <a:srgbClr val="000000"/>
              </a:solidFill>
              <a:latin typeface="Arial"/>
            </a:endParaRPr>
          </a:p>
        </p:txBody>
      </p:sp>
      <p:sp>
        <p:nvSpPr>
          <p:cNvPr id="59"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60"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61"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04</a:t>
            </a:r>
            <a:endParaRPr b="0" lang="en-US" sz="1000" spc="-1" strike="noStrike">
              <a:solidFill>
                <a:srgbClr val="000000"/>
              </a:solidFill>
              <a:latin typeface="Arial"/>
            </a:endParaRPr>
          </a:p>
        </p:txBody>
      </p:sp>
      <p:sp>
        <p:nvSpPr>
          <p:cNvPr id="62" name="Shape 6"/>
          <p:cNvSpPr/>
          <p:nvPr/>
        </p:nvSpPr>
        <p:spPr>
          <a:xfrm>
            <a:off x="67680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3" name="Shape 7"/>
          <p:cNvSpPr/>
          <p:nvPr/>
        </p:nvSpPr>
        <p:spPr>
          <a:xfrm>
            <a:off x="850320" y="174636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Text 8"/>
          <p:cNvSpPr/>
          <p:nvPr/>
        </p:nvSpPr>
        <p:spPr>
          <a:xfrm>
            <a:off x="92340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01</a:t>
            </a:r>
            <a:endParaRPr b="0" lang="en-US" sz="1100" spc="-1" strike="noStrike">
              <a:solidFill>
                <a:srgbClr val="000000"/>
              </a:solidFill>
              <a:latin typeface="Arial"/>
            </a:endParaRPr>
          </a:p>
        </p:txBody>
      </p:sp>
      <p:sp>
        <p:nvSpPr>
          <p:cNvPr id="65" name="Text 9"/>
          <p:cNvSpPr/>
          <p:nvPr/>
        </p:nvSpPr>
        <p:spPr>
          <a:xfrm>
            <a:off x="144468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Frame the problem</a:t>
            </a:r>
            <a:endParaRPr b="0" lang="en-US" sz="1700" spc="-1" strike="noStrike">
              <a:solidFill>
                <a:srgbClr val="000000"/>
              </a:solidFill>
              <a:latin typeface="Arial"/>
            </a:endParaRPr>
          </a:p>
        </p:txBody>
      </p:sp>
      <p:sp>
        <p:nvSpPr>
          <p:cNvPr id="66" name="Text 10"/>
          <p:cNvSpPr/>
          <p:nvPr/>
        </p:nvSpPr>
        <p:spPr>
          <a:xfrm>
            <a:off x="85968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CRISP-DM; target and success criteria</a:t>
            </a:r>
            <a:endParaRPr b="0" lang="en-US" sz="1400" spc="-1" strike="noStrike">
              <a:solidFill>
                <a:srgbClr val="000000"/>
              </a:solidFill>
              <a:latin typeface="Arial"/>
            </a:endParaRPr>
          </a:p>
        </p:txBody>
      </p:sp>
      <p:sp>
        <p:nvSpPr>
          <p:cNvPr id="67" name="Shape 11"/>
          <p:cNvSpPr/>
          <p:nvPr/>
        </p:nvSpPr>
        <p:spPr>
          <a:xfrm>
            <a:off x="450792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Shape 12"/>
          <p:cNvSpPr/>
          <p:nvPr/>
        </p:nvSpPr>
        <p:spPr>
          <a:xfrm>
            <a:off x="4681800" y="174636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 name="Text 13"/>
          <p:cNvSpPr/>
          <p:nvPr/>
        </p:nvSpPr>
        <p:spPr>
          <a:xfrm>
            <a:off x="475488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02</a:t>
            </a:r>
            <a:endParaRPr b="0" lang="en-US" sz="1100" spc="-1" strike="noStrike">
              <a:solidFill>
                <a:srgbClr val="000000"/>
              </a:solidFill>
              <a:latin typeface="Arial"/>
            </a:endParaRPr>
          </a:p>
        </p:txBody>
      </p:sp>
      <p:sp>
        <p:nvSpPr>
          <p:cNvPr id="70" name="Text 14"/>
          <p:cNvSpPr/>
          <p:nvPr/>
        </p:nvSpPr>
        <p:spPr>
          <a:xfrm>
            <a:off x="527616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Engineer trusted data</a:t>
            </a:r>
            <a:endParaRPr b="0" lang="en-US" sz="1700" spc="-1" strike="noStrike">
              <a:solidFill>
                <a:srgbClr val="000000"/>
              </a:solidFill>
              <a:latin typeface="Arial"/>
            </a:endParaRPr>
          </a:p>
        </p:txBody>
      </p:sp>
      <p:sp>
        <p:nvSpPr>
          <p:cNvPr id="71" name="Text 15"/>
          <p:cNvSpPr/>
          <p:nvPr/>
        </p:nvSpPr>
        <p:spPr>
          <a:xfrm>
            <a:off x="469080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pandas / R; joins; quality checks</a:t>
            </a:r>
            <a:endParaRPr b="0" lang="en-US" sz="1400" spc="-1" strike="noStrike">
              <a:solidFill>
                <a:srgbClr val="000000"/>
              </a:solidFill>
              <a:latin typeface="Arial"/>
            </a:endParaRPr>
          </a:p>
        </p:txBody>
      </p:sp>
      <p:sp>
        <p:nvSpPr>
          <p:cNvPr id="72" name="Shape 16"/>
          <p:cNvSpPr/>
          <p:nvPr/>
        </p:nvSpPr>
        <p:spPr>
          <a:xfrm>
            <a:off x="833940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 name="Shape 17"/>
          <p:cNvSpPr/>
          <p:nvPr/>
        </p:nvSpPr>
        <p:spPr>
          <a:xfrm>
            <a:off x="8512920" y="1746360"/>
            <a:ext cx="47520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Text 18"/>
          <p:cNvSpPr/>
          <p:nvPr/>
        </p:nvSpPr>
        <p:spPr>
          <a:xfrm>
            <a:off x="858636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03</a:t>
            </a:r>
            <a:endParaRPr b="0" lang="en-US" sz="1100" spc="-1" strike="noStrike">
              <a:solidFill>
                <a:srgbClr val="000000"/>
              </a:solidFill>
              <a:latin typeface="Arial"/>
            </a:endParaRPr>
          </a:p>
        </p:txBody>
      </p:sp>
      <p:sp>
        <p:nvSpPr>
          <p:cNvPr id="75" name="Text 19"/>
          <p:cNvSpPr/>
          <p:nvPr/>
        </p:nvSpPr>
        <p:spPr>
          <a:xfrm>
            <a:off x="910728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Investigate evidence</a:t>
            </a:r>
            <a:endParaRPr b="0" lang="en-US" sz="1700" spc="-1" strike="noStrike">
              <a:solidFill>
                <a:srgbClr val="000000"/>
              </a:solidFill>
              <a:latin typeface="Arial"/>
            </a:endParaRPr>
          </a:p>
        </p:txBody>
      </p:sp>
      <p:sp>
        <p:nvSpPr>
          <p:cNvPr id="76" name="Text 20"/>
          <p:cNvSpPr/>
          <p:nvPr/>
        </p:nvSpPr>
        <p:spPr>
          <a:xfrm>
            <a:off x="852228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EDA; confidence intervals; hypothesis tests</a:t>
            </a:r>
            <a:endParaRPr b="0" lang="en-US" sz="1400" spc="-1" strike="noStrike">
              <a:solidFill>
                <a:srgbClr val="000000"/>
              </a:solidFill>
              <a:latin typeface="Arial"/>
            </a:endParaRPr>
          </a:p>
        </p:txBody>
      </p:sp>
      <p:sp>
        <p:nvSpPr>
          <p:cNvPr id="77" name="Shape 21"/>
          <p:cNvSpPr/>
          <p:nvPr/>
        </p:nvSpPr>
        <p:spPr>
          <a:xfrm>
            <a:off x="67680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Shape 22"/>
          <p:cNvSpPr/>
          <p:nvPr/>
        </p:nvSpPr>
        <p:spPr>
          <a:xfrm>
            <a:off x="850320" y="365760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23"/>
          <p:cNvSpPr/>
          <p:nvPr/>
        </p:nvSpPr>
        <p:spPr>
          <a:xfrm>
            <a:off x="92340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04</a:t>
            </a:r>
            <a:endParaRPr b="0" lang="en-US" sz="1100" spc="-1" strike="noStrike">
              <a:solidFill>
                <a:srgbClr val="000000"/>
              </a:solidFill>
              <a:latin typeface="Arial"/>
            </a:endParaRPr>
          </a:p>
        </p:txBody>
      </p:sp>
      <p:sp>
        <p:nvSpPr>
          <p:cNvPr id="80" name="Text 24"/>
          <p:cNvSpPr/>
          <p:nvPr/>
        </p:nvSpPr>
        <p:spPr>
          <a:xfrm>
            <a:off x="144468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Discover patterns</a:t>
            </a:r>
            <a:endParaRPr b="0" lang="en-US" sz="1700" spc="-1" strike="noStrike">
              <a:solidFill>
                <a:srgbClr val="000000"/>
              </a:solidFill>
              <a:latin typeface="Arial"/>
            </a:endParaRPr>
          </a:p>
        </p:txBody>
      </p:sp>
      <p:sp>
        <p:nvSpPr>
          <p:cNvPr id="81" name="Text 25"/>
          <p:cNvSpPr/>
          <p:nvPr/>
        </p:nvSpPr>
        <p:spPr>
          <a:xfrm>
            <a:off x="85968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PCA; clustering; association rules</a:t>
            </a:r>
            <a:endParaRPr b="0" lang="en-US" sz="1400" spc="-1" strike="noStrike">
              <a:solidFill>
                <a:srgbClr val="000000"/>
              </a:solidFill>
              <a:latin typeface="Arial"/>
            </a:endParaRPr>
          </a:p>
        </p:txBody>
      </p:sp>
      <p:sp>
        <p:nvSpPr>
          <p:cNvPr id="82" name="Shape 26"/>
          <p:cNvSpPr/>
          <p:nvPr/>
        </p:nvSpPr>
        <p:spPr>
          <a:xfrm>
            <a:off x="450792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 name="Shape 27"/>
          <p:cNvSpPr/>
          <p:nvPr/>
        </p:nvSpPr>
        <p:spPr>
          <a:xfrm>
            <a:off x="4681800" y="365760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Text 28"/>
          <p:cNvSpPr/>
          <p:nvPr/>
        </p:nvSpPr>
        <p:spPr>
          <a:xfrm>
            <a:off x="475488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05</a:t>
            </a:r>
            <a:endParaRPr b="0" lang="en-US" sz="1100" spc="-1" strike="noStrike">
              <a:solidFill>
                <a:srgbClr val="000000"/>
              </a:solidFill>
              <a:latin typeface="Arial"/>
            </a:endParaRPr>
          </a:p>
        </p:txBody>
      </p:sp>
      <p:sp>
        <p:nvSpPr>
          <p:cNvPr id="85" name="Text 29"/>
          <p:cNvSpPr/>
          <p:nvPr/>
        </p:nvSpPr>
        <p:spPr>
          <a:xfrm>
            <a:off x="527616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Develop models</a:t>
            </a:r>
            <a:endParaRPr b="0" lang="en-US" sz="1700" spc="-1" strike="noStrike">
              <a:solidFill>
                <a:srgbClr val="000000"/>
              </a:solidFill>
              <a:latin typeface="Arial"/>
            </a:endParaRPr>
          </a:p>
        </p:txBody>
      </p:sp>
      <p:sp>
        <p:nvSpPr>
          <p:cNvPr id="86" name="Text 30"/>
          <p:cNvSpPr/>
          <p:nvPr/>
        </p:nvSpPr>
        <p:spPr>
          <a:xfrm>
            <a:off x="469080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Logistic regression; decision trees</a:t>
            </a:r>
            <a:endParaRPr b="0" lang="en-US" sz="1400" spc="-1" strike="noStrike">
              <a:solidFill>
                <a:srgbClr val="000000"/>
              </a:solidFill>
              <a:latin typeface="Arial"/>
            </a:endParaRPr>
          </a:p>
        </p:txBody>
      </p:sp>
      <p:sp>
        <p:nvSpPr>
          <p:cNvPr id="87" name="Shape 31"/>
          <p:cNvSpPr/>
          <p:nvPr/>
        </p:nvSpPr>
        <p:spPr>
          <a:xfrm>
            <a:off x="833940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 name="Shape 32"/>
          <p:cNvSpPr/>
          <p:nvPr/>
        </p:nvSpPr>
        <p:spPr>
          <a:xfrm>
            <a:off x="8512920" y="3657600"/>
            <a:ext cx="47520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Text 33"/>
          <p:cNvSpPr/>
          <p:nvPr/>
        </p:nvSpPr>
        <p:spPr>
          <a:xfrm>
            <a:off x="858636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06</a:t>
            </a:r>
            <a:endParaRPr b="0" lang="en-US" sz="1100" spc="-1" strike="noStrike">
              <a:solidFill>
                <a:srgbClr val="000000"/>
              </a:solidFill>
              <a:latin typeface="Arial"/>
            </a:endParaRPr>
          </a:p>
        </p:txBody>
      </p:sp>
      <p:sp>
        <p:nvSpPr>
          <p:cNvPr id="90" name="Text 34"/>
          <p:cNvSpPr/>
          <p:nvPr/>
        </p:nvSpPr>
        <p:spPr>
          <a:xfrm>
            <a:off x="910728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Defend decisions</a:t>
            </a:r>
            <a:endParaRPr b="0" lang="en-US" sz="1700" spc="-1" strike="noStrike">
              <a:solidFill>
                <a:srgbClr val="000000"/>
              </a:solidFill>
              <a:latin typeface="Arial"/>
            </a:endParaRPr>
          </a:p>
        </p:txBody>
      </p:sp>
      <p:sp>
        <p:nvSpPr>
          <p:cNvPr id="91" name="Text 35"/>
          <p:cNvSpPr/>
          <p:nvPr/>
        </p:nvSpPr>
        <p:spPr>
          <a:xfrm>
            <a:off x="852228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Stratified validation; recall; calibration; ethics</a:t>
            </a:r>
            <a:endParaRPr b="0" lang="en-US" sz="1400" spc="-1" strike="noStrike">
              <a:solidFill>
                <a:srgbClr val="000000"/>
              </a:solidFill>
              <a:latin typeface="Arial"/>
            </a:endParaRPr>
          </a:p>
        </p:txBody>
      </p:sp>
      <p:sp>
        <p:nvSpPr>
          <p:cNvPr id="92" name="Shape 36"/>
          <p:cNvSpPr/>
          <p:nvPr/>
        </p:nvSpPr>
        <p:spPr>
          <a:xfrm>
            <a:off x="694800" y="5715000"/>
            <a:ext cx="10807920" cy="411120"/>
          </a:xfrm>
          <a:prstGeom prst="roundRect">
            <a:avLst>
              <a:gd name="adj" fmla="val 35556"/>
            </a:avLst>
          </a:prstGeom>
          <a:solidFill>
            <a:srgbClr val="101f35"/>
          </a:solidFill>
          <a:ln w="12700">
            <a:solidFill>
              <a:srgbClr val="101f35">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Text 37"/>
          <p:cNvSpPr/>
          <p:nvPr/>
        </p:nvSpPr>
        <p:spPr>
          <a:xfrm>
            <a:off x="914400" y="5779080"/>
            <a:ext cx="103690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300" spc="-1" strike="noStrike">
                <a:solidFill>
                  <a:srgbClr val="ffffff"/>
                </a:solidFill>
                <a:latin typeface="Aptos"/>
                <a:ea typeface="Aptos"/>
              </a:rPr>
              <a:t>Every lab: pre-lab preparation → guided practice → independent challenge → feedback + reflection</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94"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Worked lab challenge: the 92% accuracy trap</a:t>
            </a:r>
            <a:endParaRPr b="0" lang="en-US" sz="2800" spc="-1" strike="noStrike">
              <a:solidFill>
                <a:srgbClr val="000000"/>
              </a:solidFill>
              <a:latin typeface="Arial"/>
            </a:endParaRPr>
          </a:p>
        </p:txBody>
      </p:sp>
      <p:sp>
        <p:nvSpPr>
          <p:cNvPr id="96"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Synthetic 1,000-case confusion matrix; positive class = high severity</a:t>
            </a:r>
            <a:endParaRPr b="0" lang="en-US" sz="1400" spc="-1" strike="noStrike">
              <a:solidFill>
                <a:srgbClr val="000000"/>
              </a:solidFill>
              <a:latin typeface="Arial"/>
            </a:endParaRPr>
          </a:p>
        </p:txBody>
      </p:sp>
      <p:sp>
        <p:nvSpPr>
          <p:cNvPr id="97"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98"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99"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05</a:t>
            </a:r>
            <a:endParaRPr b="0" lang="en-US" sz="1000" spc="-1" strike="noStrike">
              <a:solidFill>
                <a:srgbClr val="000000"/>
              </a:solidFill>
              <a:latin typeface="Arial"/>
            </a:endParaRPr>
          </a:p>
        </p:txBody>
      </p:sp>
      <p:sp>
        <p:nvSpPr>
          <p:cNvPr id="100" name="Shape 6"/>
          <p:cNvSpPr/>
          <p:nvPr/>
        </p:nvSpPr>
        <p:spPr>
          <a:xfrm>
            <a:off x="722520" y="1609200"/>
            <a:ext cx="6217560" cy="3456000"/>
          </a:xfrm>
          <a:prstGeom prst="roundRect">
            <a:avLst>
              <a:gd name="adj" fmla="val 4233"/>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1" name="Text 7"/>
          <p:cNvSpPr/>
          <p:nvPr/>
        </p:nvSpPr>
        <p:spPr>
          <a:xfrm>
            <a:off x="1033200" y="1810440"/>
            <a:ext cx="5394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66778a"/>
                </a:solidFill>
                <a:latin typeface="Aptos"/>
                <a:ea typeface="Aptos"/>
              </a:rPr>
              <a:t>ACTUAL  /  PREDICTED</a:t>
            </a:r>
            <a:endParaRPr b="0" lang="en-US" sz="1300" spc="-1" strike="noStrike">
              <a:solidFill>
                <a:srgbClr val="000000"/>
              </a:solidFill>
              <a:latin typeface="Arial"/>
            </a:endParaRPr>
          </a:p>
        </p:txBody>
      </p:sp>
      <p:sp>
        <p:nvSpPr>
          <p:cNvPr id="102" name="Text 8"/>
          <p:cNvSpPr/>
          <p:nvPr/>
        </p:nvSpPr>
        <p:spPr>
          <a:xfrm>
            <a:off x="3438000" y="2350080"/>
            <a:ext cx="1279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d304b"/>
                </a:solidFill>
                <a:latin typeface="Aptos"/>
                <a:ea typeface="Aptos"/>
              </a:rPr>
              <a:t>Low</a:t>
            </a:r>
            <a:endParaRPr b="0" lang="en-US" sz="1500" spc="-1" strike="noStrike">
              <a:solidFill>
                <a:srgbClr val="000000"/>
              </a:solidFill>
              <a:latin typeface="Arial"/>
            </a:endParaRPr>
          </a:p>
        </p:txBody>
      </p:sp>
      <p:sp>
        <p:nvSpPr>
          <p:cNvPr id="103" name="Text 9"/>
          <p:cNvSpPr/>
          <p:nvPr/>
        </p:nvSpPr>
        <p:spPr>
          <a:xfrm>
            <a:off x="5020200" y="2350080"/>
            <a:ext cx="1279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d304b"/>
                </a:solidFill>
                <a:latin typeface="Aptos"/>
                <a:ea typeface="Aptos"/>
              </a:rPr>
              <a:t>High</a:t>
            </a:r>
            <a:endParaRPr b="0" lang="en-US" sz="1500" spc="-1" strike="noStrike">
              <a:solidFill>
                <a:srgbClr val="000000"/>
              </a:solidFill>
              <a:latin typeface="Arial"/>
            </a:endParaRPr>
          </a:p>
        </p:txBody>
      </p:sp>
      <p:sp>
        <p:nvSpPr>
          <p:cNvPr id="104" name="Text 10"/>
          <p:cNvSpPr/>
          <p:nvPr/>
        </p:nvSpPr>
        <p:spPr>
          <a:xfrm>
            <a:off x="1316880" y="2962800"/>
            <a:ext cx="13255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d304b"/>
                </a:solidFill>
                <a:latin typeface="Aptos"/>
                <a:ea typeface="Aptos"/>
              </a:rPr>
              <a:t>Low</a:t>
            </a:r>
            <a:endParaRPr b="0" lang="en-US" sz="1500" spc="-1" strike="noStrike">
              <a:solidFill>
                <a:srgbClr val="000000"/>
              </a:solidFill>
              <a:latin typeface="Arial"/>
            </a:endParaRPr>
          </a:p>
        </p:txBody>
      </p:sp>
      <p:sp>
        <p:nvSpPr>
          <p:cNvPr id="105" name="Text 11"/>
          <p:cNvSpPr/>
          <p:nvPr/>
        </p:nvSpPr>
        <p:spPr>
          <a:xfrm>
            <a:off x="1316880" y="3904560"/>
            <a:ext cx="13255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d304b"/>
                </a:solidFill>
                <a:latin typeface="Aptos"/>
                <a:ea typeface="Aptos"/>
              </a:rPr>
              <a:t>High</a:t>
            </a:r>
            <a:endParaRPr b="0" lang="en-US" sz="1500" spc="-1" strike="noStrike">
              <a:solidFill>
                <a:srgbClr val="000000"/>
              </a:solidFill>
              <a:latin typeface="Arial"/>
            </a:endParaRPr>
          </a:p>
        </p:txBody>
      </p:sp>
      <p:sp>
        <p:nvSpPr>
          <p:cNvPr id="106" name="Shape 12"/>
          <p:cNvSpPr/>
          <p:nvPr/>
        </p:nvSpPr>
        <p:spPr>
          <a:xfrm>
            <a:off x="3246120" y="2752200"/>
            <a:ext cx="1416960" cy="758520"/>
          </a:xfrm>
          <a:prstGeom prst="roundRect">
            <a:avLst>
              <a:gd name="adj" fmla="val 19277"/>
            </a:avLst>
          </a:prstGeom>
          <a:solidFill>
            <a:srgbClr val="daeaf6"/>
          </a:solidFill>
          <a:ln w="12700">
            <a:solidFill>
              <a:srgbClr val="daeaf6">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 name="Text 13"/>
          <p:cNvSpPr/>
          <p:nvPr/>
        </p:nvSpPr>
        <p:spPr>
          <a:xfrm>
            <a:off x="3246120" y="284364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890</a:t>
            </a:r>
            <a:endParaRPr b="0" lang="en-US" sz="2500" spc="-1" strike="noStrike">
              <a:solidFill>
                <a:srgbClr val="000000"/>
              </a:solidFill>
              <a:latin typeface="Arial"/>
            </a:endParaRPr>
          </a:p>
        </p:txBody>
      </p:sp>
      <p:sp>
        <p:nvSpPr>
          <p:cNvPr id="108" name="Shape 14"/>
          <p:cNvSpPr/>
          <p:nvPr/>
        </p:nvSpPr>
        <p:spPr>
          <a:xfrm>
            <a:off x="4855320" y="2752200"/>
            <a:ext cx="1416960" cy="758520"/>
          </a:xfrm>
          <a:prstGeom prst="roundRect">
            <a:avLst>
              <a:gd name="adj" fmla="val 19277"/>
            </a:avLst>
          </a:prstGeom>
          <a:solidFill>
            <a:srgbClr val="e7ebf1"/>
          </a:solidFill>
          <a:ln w="12700">
            <a:solidFill>
              <a:srgbClr val="e7ebf1">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 name="Text 15"/>
          <p:cNvSpPr/>
          <p:nvPr/>
        </p:nvSpPr>
        <p:spPr>
          <a:xfrm>
            <a:off x="4855320" y="284364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10</a:t>
            </a:r>
            <a:endParaRPr b="0" lang="en-US" sz="2500" spc="-1" strike="noStrike">
              <a:solidFill>
                <a:srgbClr val="000000"/>
              </a:solidFill>
              <a:latin typeface="Arial"/>
            </a:endParaRPr>
          </a:p>
        </p:txBody>
      </p:sp>
      <p:sp>
        <p:nvSpPr>
          <p:cNvPr id="110" name="Shape 16"/>
          <p:cNvSpPr/>
          <p:nvPr/>
        </p:nvSpPr>
        <p:spPr>
          <a:xfrm>
            <a:off x="3246120" y="3684960"/>
            <a:ext cx="1416960" cy="758520"/>
          </a:xfrm>
          <a:prstGeom prst="roundRect">
            <a:avLst>
              <a:gd name="adj" fmla="val 19277"/>
            </a:avLst>
          </a:prstGeom>
          <a:solidFill>
            <a:srgbClr val="ffe6d4"/>
          </a:solidFill>
          <a:ln w="12700">
            <a:solidFill>
              <a:srgbClr val="ffe6d4">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 name="Text 17"/>
          <p:cNvSpPr/>
          <p:nvPr/>
        </p:nvSpPr>
        <p:spPr>
          <a:xfrm>
            <a:off x="3246120" y="377640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70</a:t>
            </a:r>
            <a:endParaRPr b="0" lang="en-US" sz="2500" spc="-1" strike="noStrike">
              <a:solidFill>
                <a:srgbClr val="000000"/>
              </a:solidFill>
              <a:latin typeface="Arial"/>
            </a:endParaRPr>
          </a:p>
        </p:txBody>
      </p:sp>
      <p:sp>
        <p:nvSpPr>
          <p:cNvPr id="112" name="Shape 18"/>
          <p:cNvSpPr/>
          <p:nvPr/>
        </p:nvSpPr>
        <p:spPr>
          <a:xfrm>
            <a:off x="4855320" y="3684960"/>
            <a:ext cx="1416960" cy="758520"/>
          </a:xfrm>
          <a:prstGeom prst="roundRect">
            <a:avLst>
              <a:gd name="adj" fmla="val 19277"/>
            </a:avLst>
          </a:prstGeom>
          <a:solidFill>
            <a:srgbClr val="c9ede4"/>
          </a:solidFill>
          <a:ln w="12700">
            <a:solidFill>
              <a:srgbClr val="c9ede4">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 name="Text 19"/>
          <p:cNvSpPr/>
          <p:nvPr/>
        </p:nvSpPr>
        <p:spPr>
          <a:xfrm>
            <a:off x="4855320" y="377640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30</a:t>
            </a:r>
            <a:endParaRPr b="0" lang="en-US" sz="2500" spc="-1" strike="noStrike">
              <a:solidFill>
                <a:srgbClr val="000000"/>
              </a:solidFill>
              <a:latin typeface="Arial"/>
            </a:endParaRPr>
          </a:p>
        </p:txBody>
      </p:sp>
      <p:sp>
        <p:nvSpPr>
          <p:cNvPr id="114" name="Shape 20"/>
          <p:cNvSpPr/>
          <p:nvPr/>
        </p:nvSpPr>
        <p:spPr>
          <a:xfrm>
            <a:off x="7342560" y="1609200"/>
            <a:ext cx="4014000" cy="1490040"/>
          </a:xfrm>
          <a:prstGeom prst="roundRect">
            <a:avLst>
              <a:gd name="adj" fmla="val 9816"/>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 name="Text 21"/>
          <p:cNvSpPr/>
          <p:nvPr/>
        </p:nvSpPr>
        <p:spPr>
          <a:xfrm>
            <a:off x="7644240" y="1874520"/>
            <a:ext cx="33372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47e83"/>
                </a:solidFill>
                <a:latin typeface="Aptos"/>
                <a:ea typeface="Aptos"/>
              </a:rPr>
              <a:t>ACCURACY</a:t>
            </a:r>
            <a:endParaRPr b="0" lang="en-US" sz="1300" spc="-1" strike="noStrike">
              <a:solidFill>
                <a:srgbClr val="000000"/>
              </a:solidFill>
              <a:latin typeface="Arial"/>
            </a:endParaRPr>
          </a:p>
        </p:txBody>
      </p:sp>
      <p:sp>
        <p:nvSpPr>
          <p:cNvPr id="116" name="Text 22"/>
          <p:cNvSpPr/>
          <p:nvPr/>
        </p:nvSpPr>
        <p:spPr>
          <a:xfrm>
            <a:off x="7644240" y="2203560"/>
            <a:ext cx="310860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500" spc="-1" strike="noStrike">
                <a:solidFill>
                  <a:srgbClr val="1d304b"/>
                </a:solidFill>
                <a:latin typeface="Aptos"/>
                <a:ea typeface="Aptos"/>
              </a:rPr>
              <a:t>92%</a:t>
            </a:r>
            <a:endParaRPr b="0" lang="en-US" sz="3500" spc="-1" strike="noStrike">
              <a:solidFill>
                <a:srgbClr val="000000"/>
              </a:solidFill>
              <a:latin typeface="Arial"/>
            </a:endParaRPr>
          </a:p>
        </p:txBody>
      </p:sp>
      <p:sp>
        <p:nvSpPr>
          <p:cNvPr id="117" name="Shape 23"/>
          <p:cNvSpPr/>
          <p:nvPr/>
        </p:nvSpPr>
        <p:spPr>
          <a:xfrm>
            <a:off x="7342560" y="3300840"/>
            <a:ext cx="4014000" cy="1490040"/>
          </a:xfrm>
          <a:prstGeom prst="roundRect">
            <a:avLst>
              <a:gd name="adj" fmla="val 9816"/>
            </a:avLst>
          </a:prstGeom>
          <a:solidFill>
            <a:srgbClr val="fff0e1"/>
          </a:solidFill>
          <a:ln w="12700">
            <a:solidFill>
              <a:srgbClr val="fff0e1">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 name="Text 24"/>
          <p:cNvSpPr/>
          <p:nvPr/>
        </p:nvSpPr>
        <p:spPr>
          <a:xfrm>
            <a:off x="7644240" y="3547800"/>
            <a:ext cx="3355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9d621e"/>
                </a:solidFill>
                <a:latin typeface="Aptos"/>
                <a:ea typeface="Aptos"/>
              </a:rPr>
              <a:t>HIGH-SEVERITY RECALL</a:t>
            </a:r>
            <a:endParaRPr b="0" lang="en-US" sz="1200" spc="-1" strike="noStrike">
              <a:solidFill>
                <a:srgbClr val="000000"/>
              </a:solidFill>
              <a:latin typeface="Arial"/>
            </a:endParaRPr>
          </a:p>
        </p:txBody>
      </p:sp>
      <p:sp>
        <p:nvSpPr>
          <p:cNvPr id="119" name="Text 25"/>
          <p:cNvSpPr/>
          <p:nvPr/>
        </p:nvSpPr>
        <p:spPr>
          <a:xfrm>
            <a:off x="7644240" y="3877200"/>
            <a:ext cx="3108600" cy="667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500" spc="-1" strike="noStrike">
                <a:solidFill>
                  <a:srgbClr val="1d304b"/>
                </a:solidFill>
                <a:latin typeface="Aptos"/>
                <a:ea typeface="Aptos"/>
              </a:rPr>
              <a:t>30%</a:t>
            </a:r>
            <a:endParaRPr b="0" lang="en-US" sz="3500" spc="-1" strike="noStrike">
              <a:solidFill>
                <a:srgbClr val="000000"/>
              </a:solidFill>
              <a:latin typeface="Arial"/>
            </a:endParaRPr>
          </a:p>
        </p:txBody>
      </p:sp>
      <p:sp>
        <p:nvSpPr>
          <p:cNvPr id="120" name="Text 26"/>
          <p:cNvSpPr/>
          <p:nvPr/>
        </p:nvSpPr>
        <p:spPr>
          <a:xfrm>
            <a:off x="795600" y="5394960"/>
            <a:ext cx="104238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01f35"/>
                </a:solidFill>
                <a:latin typeface="Aptos"/>
                <a:ea typeface="Aptos"/>
              </a:rPr>
              <a:t>Student prompt: Would you recommend this model? What else do you need to know?</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Methodology</a:t>
            </a:r>
            <a:endParaRPr b="0" lang="en-US" sz="2800" spc="-1" strike="noStrike">
              <a:solidFill>
                <a:srgbClr val="000000"/>
              </a:solidFill>
              <a:latin typeface="Arial"/>
            </a:endParaRPr>
          </a:p>
        </p:txBody>
      </p:sp>
      <p:sp>
        <p:nvSpPr>
          <p:cNvPr id="123"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24"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25"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26"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06</a:t>
            </a:r>
            <a:endParaRPr b="0" lang="en-US" sz="1000" spc="-1" strike="noStrike">
              <a:solidFill>
                <a:srgbClr val="000000"/>
              </a:solidFill>
              <a:latin typeface="Arial"/>
            </a:endParaRPr>
          </a:p>
        </p:txBody>
      </p:sp>
      <p:sp>
        <p:nvSpPr>
          <p:cNvPr id="127" name="Shape 6"/>
          <p:cNvSpPr/>
          <p:nvPr/>
        </p:nvSpPr>
        <p:spPr>
          <a:xfrm>
            <a:off x="685800" y="1673280"/>
            <a:ext cx="3163320" cy="408708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 name="Text 7"/>
          <p:cNvSpPr/>
          <p:nvPr/>
        </p:nvSpPr>
        <p:spPr>
          <a:xfrm>
            <a:off x="88704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BEFORE THE LAB</a:t>
            </a:r>
            <a:endParaRPr b="0" lang="en-US" sz="1200" spc="-1" strike="noStrike">
              <a:solidFill>
                <a:srgbClr val="000000"/>
              </a:solidFill>
              <a:latin typeface="Arial"/>
            </a:endParaRPr>
          </a:p>
        </p:txBody>
      </p:sp>
      <p:sp>
        <p:nvSpPr>
          <p:cNvPr id="129" name="Text 8"/>
          <p:cNvSpPr/>
          <p:nvPr/>
        </p:nvSpPr>
        <p:spPr>
          <a:xfrm>
            <a:off x="88704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Prepare</a:t>
            </a:r>
            <a:endParaRPr b="0" lang="en-US" sz="2500" spc="-1" strike="noStrike">
              <a:solidFill>
                <a:srgbClr val="000000"/>
              </a:solidFill>
              <a:latin typeface="Arial"/>
            </a:endParaRPr>
          </a:p>
        </p:txBody>
      </p:sp>
      <p:sp>
        <p:nvSpPr>
          <p:cNvPr id="130" name="Shape 9"/>
          <p:cNvSpPr/>
          <p:nvPr/>
        </p:nvSpPr>
        <p:spPr>
          <a:xfrm>
            <a:off x="89604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1" name="Text 10"/>
          <p:cNvSpPr/>
          <p:nvPr/>
        </p:nvSpPr>
        <p:spPr>
          <a:xfrm>
            <a:off x="110628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Pre-lab 10-minute concept check</a:t>
            </a:r>
            <a:endParaRPr b="0" lang="en-US" sz="1400" spc="-1" strike="noStrike">
              <a:solidFill>
                <a:srgbClr val="000000"/>
              </a:solidFill>
              <a:latin typeface="Arial"/>
            </a:endParaRPr>
          </a:p>
        </p:txBody>
      </p:sp>
      <p:sp>
        <p:nvSpPr>
          <p:cNvPr id="132" name="Shape 11"/>
          <p:cNvSpPr/>
          <p:nvPr/>
        </p:nvSpPr>
        <p:spPr>
          <a:xfrm>
            <a:off x="89604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3" name="Text 12"/>
          <p:cNvSpPr/>
          <p:nvPr/>
        </p:nvSpPr>
        <p:spPr>
          <a:xfrm>
            <a:off x="110628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Annotated notebook + glossary</a:t>
            </a:r>
            <a:endParaRPr b="0" lang="en-US" sz="1400" spc="-1" strike="noStrike">
              <a:solidFill>
                <a:srgbClr val="000000"/>
              </a:solidFill>
              <a:latin typeface="Arial"/>
            </a:endParaRPr>
          </a:p>
        </p:txBody>
      </p:sp>
      <p:sp>
        <p:nvSpPr>
          <p:cNvPr id="134" name="Shape 13"/>
          <p:cNvSpPr/>
          <p:nvPr/>
        </p:nvSpPr>
        <p:spPr>
          <a:xfrm>
            <a:off x="89604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5" name="Text 14"/>
          <p:cNvSpPr/>
          <p:nvPr/>
        </p:nvSpPr>
        <p:spPr>
          <a:xfrm>
            <a:off x="110628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Accessible data dictionary</a:t>
            </a:r>
            <a:endParaRPr b="0" lang="en-US" sz="1400" spc="-1" strike="noStrike">
              <a:solidFill>
                <a:srgbClr val="000000"/>
              </a:solidFill>
              <a:latin typeface="Arial"/>
            </a:endParaRPr>
          </a:p>
        </p:txBody>
      </p:sp>
      <p:sp>
        <p:nvSpPr>
          <p:cNvPr id="136" name="Shape 15"/>
          <p:cNvSpPr/>
          <p:nvPr/>
        </p:nvSpPr>
        <p:spPr>
          <a:xfrm>
            <a:off x="4526280" y="1673280"/>
            <a:ext cx="3163320" cy="4087080"/>
          </a:xfrm>
          <a:prstGeom prst="roundRect">
            <a:avLst>
              <a:gd name="adj" fmla="val 4624"/>
            </a:avLst>
          </a:prstGeom>
          <a:solidFill>
            <a:srgbClr val="e8f4f3"/>
          </a:solidFill>
          <a:ln w="12700">
            <a:solidFill>
              <a:srgbClr val="e8f4f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Text 16"/>
          <p:cNvSpPr/>
          <p:nvPr/>
        </p:nvSpPr>
        <p:spPr>
          <a:xfrm>
            <a:off x="472752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DURING THE LAB</a:t>
            </a:r>
            <a:endParaRPr b="0" lang="en-US" sz="1200" spc="-1" strike="noStrike">
              <a:solidFill>
                <a:srgbClr val="000000"/>
              </a:solidFill>
              <a:latin typeface="Arial"/>
            </a:endParaRPr>
          </a:p>
        </p:txBody>
      </p:sp>
      <p:sp>
        <p:nvSpPr>
          <p:cNvPr id="138" name="Text 17"/>
          <p:cNvSpPr/>
          <p:nvPr/>
        </p:nvSpPr>
        <p:spPr>
          <a:xfrm>
            <a:off x="472752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Investigate</a:t>
            </a:r>
            <a:endParaRPr b="0" lang="en-US" sz="2500" spc="-1" strike="noStrike">
              <a:solidFill>
                <a:srgbClr val="000000"/>
              </a:solidFill>
              <a:latin typeface="Arial"/>
            </a:endParaRPr>
          </a:p>
        </p:txBody>
      </p:sp>
      <p:sp>
        <p:nvSpPr>
          <p:cNvPr id="139" name="Shape 18"/>
          <p:cNvSpPr/>
          <p:nvPr/>
        </p:nvSpPr>
        <p:spPr>
          <a:xfrm>
            <a:off x="473652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0" name="Text 19"/>
          <p:cNvSpPr/>
          <p:nvPr/>
        </p:nvSpPr>
        <p:spPr>
          <a:xfrm>
            <a:off x="494676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Live code + paired reasoning</a:t>
            </a:r>
            <a:endParaRPr b="0" lang="en-US" sz="1400" spc="-1" strike="noStrike">
              <a:solidFill>
                <a:srgbClr val="000000"/>
              </a:solidFill>
              <a:latin typeface="Arial"/>
            </a:endParaRPr>
          </a:p>
        </p:txBody>
      </p:sp>
      <p:sp>
        <p:nvSpPr>
          <p:cNvPr id="141" name="Shape 20"/>
          <p:cNvSpPr/>
          <p:nvPr/>
        </p:nvSpPr>
        <p:spPr>
          <a:xfrm>
            <a:off x="473652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2" name="Text 21"/>
          <p:cNvSpPr/>
          <p:nvPr/>
        </p:nvSpPr>
        <p:spPr>
          <a:xfrm>
            <a:off x="494676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Checkpoint feedback / debugging</a:t>
            </a:r>
            <a:endParaRPr b="0" lang="en-US" sz="1400" spc="-1" strike="noStrike">
              <a:solidFill>
                <a:srgbClr val="000000"/>
              </a:solidFill>
              <a:latin typeface="Arial"/>
            </a:endParaRPr>
          </a:p>
        </p:txBody>
      </p:sp>
      <p:sp>
        <p:nvSpPr>
          <p:cNvPr id="143" name="Shape 22"/>
          <p:cNvSpPr/>
          <p:nvPr/>
        </p:nvSpPr>
        <p:spPr>
          <a:xfrm>
            <a:off x="473652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4" name="Text 23"/>
          <p:cNvSpPr/>
          <p:nvPr/>
        </p:nvSpPr>
        <p:spPr>
          <a:xfrm>
            <a:off x="494676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Explain assumptions, not only code</a:t>
            </a:r>
            <a:endParaRPr b="0" lang="en-US" sz="1400" spc="-1" strike="noStrike">
              <a:solidFill>
                <a:srgbClr val="000000"/>
              </a:solidFill>
              <a:latin typeface="Arial"/>
            </a:endParaRPr>
          </a:p>
        </p:txBody>
      </p:sp>
      <p:sp>
        <p:nvSpPr>
          <p:cNvPr id="145" name="Shape 24"/>
          <p:cNvSpPr/>
          <p:nvPr/>
        </p:nvSpPr>
        <p:spPr>
          <a:xfrm>
            <a:off x="8357760" y="1673280"/>
            <a:ext cx="3163320" cy="408708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 name="Text 25"/>
          <p:cNvSpPr/>
          <p:nvPr/>
        </p:nvSpPr>
        <p:spPr>
          <a:xfrm>
            <a:off x="855864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AFTER THE LAB</a:t>
            </a:r>
            <a:endParaRPr b="0" lang="en-US" sz="1200" spc="-1" strike="noStrike">
              <a:solidFill>
                <a:srgbClr val="000000"/>
              </a:solidFill>
              <a:latin typeface="Arial"/>
            </a:endParaRPr>
          </a:p>
        </p:txBody>
      </p:sp>
      <p:sp>
        <p:nvSpPr>
          <p:cNvPr id="147" name="Text 26"/>
          <p:cNvSpPr/>
          <p:nvPr/>
        </p:nvSpPr>
        <p:spPr>
          <a:xfrm>
            <a:off x="855864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Extend</a:t>
            </a:r>
            <a:endParaRPr b="0" lang="en-US" sz="2500" spc="-1" strike="noStrike">
              <a:solidFill>
                <a:srgbClr val="000000"/>
              </a:solidFill>
              <a:latin typeface="Arial"/>
            </a:endParaRPr>
          </a:p>
        </p:txBody>
      </p:sp>
      <p:sp>
        <p:nvSpPr>
          <p:cNvPr id="148" name="Shape 27"/>
          <p:cNvSpPr/>
          <p:nvPr/>
        </p:nvSpPr>
        <p:spPr>
          <a:xfrm>
            <a:off x="856800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9" name="Text 28"/>
          <p:cNvSpPr/>
          <p:nvPr/>
        </p:nvSpPr>
        <p:spPr>
          <a:xfrm>
            <a:off x="877824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Independent analytical choice</a:t>
            </a:r>
            <a:endParaRPr b="0" lang="en-US" sz="1400" spc="-1" strike="noStrike">
              <a:solidFill>
                <a:srgbClr val="000000"/>
              </a:solidFill>
              <a:latin typeface="Arial"/>
            </a:endParaRPr>
          </a:p>
        </p:txBody>
      </p:sp>
      <p:sp>
        <p:nvSpPr>
          <p:cNvPr id="150" name="Shape 29"/>
          <p:cNvSpPr/>
          <p:nvPr/>
        </p:nvSpPr>
        <p:spPr>
          <a:xfrm>
            <a:off x="856800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51" name="Text 30"/>
          <p:cNvSpPr/>
          <p:nvPr/>
        </p:nvSpPr>
        <p:spPr>
          <a:xfrm>
            <a:off x="877824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Advanced extension: calibration</a:t>
            </a:r>
            <a:endParaRPr b="0" lang="en-US" sz="1400" spc="-1" strike="noStrike">
              <a:solidFill>
                <a:srgbClr val="000000"/>
              </a:solidFill>
              <a:latin typeface="Arial"/>
            </a:endParaRPr>
          </a:p>
        </p:txBody>
      </p:sp>
      <p:sp>
        <p:nvSpPr>
          <p:cNvPr id="152" name="Shape 31"/>
          <p:cNvSpPr/>
          <p:nvPr/>
        </p:nvSpPr>
        <p:spPr>
          <a:xfrm>
            <a:off x="856800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53" name="Text 32"/>
          <p:cNvSpPr/>
          <p:nvPr/>
        </p:nvSpPr>
        <p:spPr>
          <a:xfrm>
            <a:off x="877824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Short critical reflection</a:t>
            </a:r>
            <a:endParaRPr b="0" lang="en-US" sz="1400" spc="-1" strike="noStrike">
              <a:solidFill>
                <a:srgbClr val="000000"/>
              </a:solidFill>
              <a:latin typeface="Arial"/>
            </a:endParaRPr>
          </a:p>
        </p:txBody>
      </p:sp>
      <p:sp>
        <p:nvSpPr>
          <p:cNvPr id="154" name="Text 33"/>
          <p:cNvSpPr/>
          <p:nvPr/>
        </p:nvSpPr>
        <p:spPr>
          <a:xfrm>
            <a:off x="777240" y="5970960"/>
            <a:ext cx="109267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155"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How will we know students have learned?</a:t>
            </a:r>
            <a:endParaRPr b="0" lang="en-US" sz="2800" spc="-1" strike="noStrike">
              <a:solidFill>
                <a:srgbClr val="000000"/>
              </a:solidFill>
              <a:latin typeface="Arial"/>
            </a:endParaRPr>
          </a:p>
        </p:txBody>
      </p:sp>
      <p:sp>
        <p:nvSpPr>
          <p:cNvPr id="157"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Evidence-led assessment and a responsible final recommendation</a:t>
            </a:r>
            <a:endParaRPr b="0" lang="en-US" sz="1400" spc="-1" strike="noStrike">
              <a:solidFill>
                <a:srgbClr val="000000"/>
              </a:solidFill>
              <a:latin typeface="Arial"/>
            </a:endParaRPr>
          </a:p>
        </p:txBody>
      </p:sp>
      <p:sp>
        <p:nvSpPr>
          <p:cNvPr id="158"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59"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60"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07</a:t>
            </a:r>
            <a:endParaRPr b="0" lang="en-US" sz="1000" spc="-1" strike="noStrike">
              <a:solidFill>
                <a:srgbClr val="000000"/>
              </a:solidFill>
              <a:latin typeface="Arial"/>
            </a:endParaRPr>
          </a:p>
        </p:txBody>
      </p:sp>
      <p:sp>
        <p:nvSpPr>
          <p:cNvPr id="161" name="Shape 6"/>
          <p:cNvSpPr/>
          <p:nvPr/>
        </p:nvSpPr>
        <p:spPr>
          <a:xfrm>
            <a:off x="704160" y="1554480"/>
            <a:ext cx="5623200" cy="4251600"/>
          </a:xfrm>
          <a:prstGeom prst="roundRect">
            <a:avLst>
              <a:gd name="adj" fmla="val 344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2" name="Text 7"/>
          <p:cNvSpPr/>
          <p:nvPr/>
        </p:nvSpPr>
        <p:spPr>
          <a:xfrm>
            <a:off x="969120" y="1847160"/>
            <a:ext cx="50198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FORMATIVE EVIDENCE</a:t>
            </a:r>
            <a:endParaRPr b="0" lang="en-US" sz="1400" spc="-1" strike="noStrike">
              <a:solidFill>
                <a:srgbClr val="000000"/>
              </a:solidFill>
              <a:latin typeface="Arial"/>
            </a:endParaRPr>
          </a:p>
        </p:txBody>
      </p:sp>
      <p:sp>
        <p:nvSpPr>
          <p:cNvPr id="163" name="Shape 8"/>
          <p:cNvSpPr/>
          <p:nvPr/>
        </p:nvSpPr>
        <p:spPr>
          <a:xfrm>
            <a:off x="987480" y="25603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4" name="Text 9"/>
          <p:cNvSpPr/>
          <p:nvPr/>
        </p:nvSpPr>
        <p:spPr>
          <a:xfrm>
            <a:off x="1197720" y="243216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Data validation and notebook checkpoints</a:t>
            </a:r>
            <a:endParaRPr b="0" lang="en-US" sz="1700" spc="-1" strike="noStrike">
              <a:solidFill>
                <a:srgbClr val="000000"/>
              </a:solidFill>
              <a:latin typeface="Arial"/>
            </a:endParaRPr>
          </a:p>
        </p:txBody>
      </p:sp>
      <p:sp>
        <p:nvSpPr>
          <p:cNvPr id="165" name="Shape 10"/>
          <p:cNvSpPr/>
          <p:nvPr/>
        </p:nvSpPr>
        <p:spPr>
          <a:xfrm>
            <a:off x="987480" y="3218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6" name="Text 11"/>
          <p:cNvSpPr/>
          <p:nvPr/>
        </p:nvSpPr>
        <p:spPr>
          <a:xfrm>
            <a:off x="1197720" y="309060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Peer explanations of model choices</a:t>
            </a:r>
            <a:endParaRPr b="0" lang="en-US" sz="1700" spc="-1" strike="noStrike">
              <a:solidFill>
                <a:srgbClr val="000000"/>
              </a:solidFill>
              <a:latin typeface="Arial"/>
            </a:endParaRPr>
          </a:p>
        </p:txBody>
      </p:sp>
      <p:sp>
        <p:nvSpPr>
          <p:cNvPr id="167" name="Shape 12"/>
          <p:cNvSpPr/>
          <p:nvPr/>
        </p:nvSpPr>
        <p:spPr>
          <a:xfrm>
            <a:off x="987480" y="3877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8" name="Text 13"/>
          <p:cNvSpPr/>
          <p:nvPr/>
        </p:nvSpPr>
        <p:spPr>
          <a:xfrm>
            <a:off x="1197720" y="374904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Mini-review of errors and limitations</a:t>
            </a:r>
            <a:endParaRPr b="0" lang="en-US" sz="1700" spc="-1" strike="noStrike">
              <a:solidFill>
                <a:srgbClr val="000000"/>
              </a:solidFill>
              <a:latin typeface="Arial"/>
            </a:endParaRPr>
          </a:p>
        </p:txBody>
      </p:sp>
      <p:sp>
        <p:nvSpPr>
          <p:cNvPr id="169" name="Shape 14"/>
          <p:cNvSpPr/>
          <p:nvPr/>
        </p:nvSpPr>
        <p:spPr>
          <a:xfrm>
            <a:off x="98748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0" name="Text 15"/>
          <p:cNvSpPr/>
          <p:nvPr/>
        </p:nvSpPr>
        <p:spPr>
          <a:xfrm>
            <a:off x="1197720" y="440748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Feedback before the final submission</a:t>
            </a:r>
            <a:endParaRPr b="0" lang="en-US" sz="1700" spc="-1" strike="noStrike">
              <a:solidFill>
                <a:srgbClr val="000000"/>
              </a:solidFill>
              <a:latin typeface="Arial"/>
            </a:endParaRPr>
          </a:p>
        </p:txBody>
      </p:sp>
      <p:sp>
        <p:nvSpPr>
          <p:cNvPr id="171" name="Shape 16"/>
          <p:cNvSpPr/>
          <p:nvPr/>
        </p:nvSpPr>
        <p:spPr>
          <a:xfrm>
            <a:off x="6565320" y="1554480"/>
            <a:ext cx="4836960" cy="4251600"/>
          </a:xfrm>
          <a:prstGeom prst="roundRect">
            <a:avLst>
              <a:gd name="adj" fmla="val 3441"/>
            </a:avLst>
          </a:prstGeom>
          <a:solidFill>
            <a:srgbClr val="eaf4f3"/>
          </a:solidFill>
          <a:ln w="12700">
            <a:solidFill>
              <a:srgbClr val="eaf4f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2" name="Text 17"/>
          <p:cNvSpPr/>
          <p:nvPr/>
        </p:nvSpPr>
        <p:spPr>
          <a:xfrm>
            <a:off x="6858000" y="1847160"/>
            <a:ext cx="4178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AUTHENTIC OUTPUT</a:t>
            </a:r>
            <a:endParaRPr b="0" lang="en-US" sz="1400" spc="-1" strike="noStrike">
              <a:solidFill>
                <a:srgbClr val="000000"/>
              </a:solidFill>
              <a:latin typeface="Arial"/>
            </a:endParaRPr>
          </a:p>
        </p:txBody>
      </p:sp>
      <p:sp>
        <p:nvSpPr>
          <p:cNvPr id="173" name="Shape 18"/>
          <p:cNvSpPr/>
          <p:nvPr/>
        </p:nvSpPr>
        <p:spPr>
          <a:xfrm>
            <a:off x="6867000" y="25603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4" name="Text 19"/>
          <p:cNvSpPr/>
          <p:nvPr/>
        </p:nvSpPr>
        <p:spPr>
          <a:xfrm>
            <a:off x="7077600" y="243216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Reproducible technical notebook</a:t>
            </a:r>
            <a:endParaRPr b="0" lang="en-US" sz="1600" spc="-1" strike="noStrike">
              <a:solidFill>
                <a:srgbClr val="000000"/>
              </a:solidFill>
              <a:latin typeface="Arial"/>
            </a:endParaRPr>
          </a:p>
        </p:txBody>
      </p:sp>
      <p:sp>
        <p:nvSpPr>
          <p:cNvPr id="175" name="Shape 20"/>
          <p:cNvSpPr/>
          <p:nvPr/>
        </p:nvSpPr>
        <p:spPr>
          <a:xfrm>
            <a:off x="6867000" y="3218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6" name="Text 21"/>
          <p:cNvSpPr/>
          <p:nvPr/>
        </p:nvSpPr>
        <p:spPr>
          <a:xfrm>
            <a:off x="7077600" y="309060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Short policy-facing evidence brief</a:t>
            </a:r>
            <a:endParaRPr b="0" lang="en-US" sz="1600" spc="-1" strike="noStrike">
              <a:solidFill>
                <a:srgbClr val="000000"/>
              </a:solidFill>
              <a:latin typeface="Arial"/>
            </a:endParaRPr>
          </a:p>
        </p:txBody>
      </p:sp>
      <p:sp>
        <p:nvSpPr>
          <p:cNvPr id="177" name="Shape 22"/>
          <p:cNvSpPr/>
          <p:nvPr/>
        </p:nvSpPr>
        <p:spPr>
          <a:xfrm>
            <a:off x="6867000" y="3877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8" name="Text 23"/>
          <p:cNvSpPr/>
          <p:nvPr/>
        </p:nvSpPr>
        <p:spPr>
          <a:xfrm>
            <a:off x="7077600" y="374904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Critical discussion of uncertainty</a:t>
            </a:r>
            <a:endParaRPr b="0" lang="en-US" sz="1600" spc="-1" strike="noStrike">
              <a:solidFill>
                <a:srgbClr val="000000"/>
              </a:solidFill>
              <a:latin typeface="Arial"/>
            </a:endParaRPr>
          </a:p>
        </p:txBody>
      </p:sp>
      <p:sp>
        <p:nvSpPr>
          <p:cNvPr id="179" name="Shape 24"/>
          <p:cNvSpPr/>
          <p:nvPr/>
        </p:nvSpPr>
        <p:spPr>
          <a:xfrm>
            <a:off x="686700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80" name="Text 25"/>
          <p:cNvSpPr/>
          <p:nvPr/>
        </p:nvSpPr>
        <p:spPr>
          <a:xfrm>
            <a:off x="7077600" y="440748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Transparent AI use + attribution</a:t>
            </a:r>
            <a:endParaRPr b="0" lang="en-US" sz="1600" spc="-1" strike="noStrike">
              <a:solidFill>
                <a:srgbClr val="000000"/>
              </a:solidFill>
              <a:latin typeface="Arial"/>
            </a:endParaRPr>
          </a:p>
        </p:txBody>
      </p:sp>
      <p:sp>
        <p:nvSpPr>
          <p:cNvPr id="181" name="Text 26"/>
          <p:cNvSpPr/>
          <p:nvPr/>
        </p:nvSpPr>
        <p:spPr>
          <a:xfrm>
            <a:off x="740520" y="6016680"/>
            <a:ext cx="10679760" cy="356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101f35"/>
                </a:solidFill>
                <a:latin typeface="Aptos"/>
                <a:ea typeface="Aptos"/>
              </a:rPr>
              <a:t>From “Can it run?” to “Can the decision be defended?”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509</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2026-10-22T21:25:42Z</dcterms:created>
  <dc:creator>Academic interview preparation</dc:creator>
  <dc:description/>
  <dc:language>en-US</dc:language>
  <cp:lastModifiedBy/>
  <dcterms:modified xsi:type="dcterms:W3CDTF">2026-10-28T08:00:58Z</dcterms:modified>
  <cp:revision>2</cp:revision>
  <dc:subject>Level 7 Data Analytics practical laboratories</dc:subject>
  <dc:title>Can Data Analytics Make Our Roads Safer?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