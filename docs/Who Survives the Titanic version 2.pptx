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3" r:id="rId6"/>
    <p:sldId id="262" r:id="rId7"/>
    <p:sldId id="260" r:id="rId8"/>
    <p:sldId id="261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0" dt="2026-10-27T21:43:28.442"/>
    <p1510:client id="{10BB194E-CD19-4E4D-D3DC-8B86F6B92848}" v="38" dt="2026-10-27T22:26:26.395"/>
    <p1510:client id="{31AA032E-D573-1BFD-E5A8-B61B602790FE}" v="13" dt="2026-10-28T08:18:36.868"/>
    <p1510:client id="{76F6B2EB-8D37-9154-2A5D-C8F3060D64FA}" v="16" dt="2026-10-27T23:48:28.8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531ACB-5C6B-4DFA-9DF2-1769F386BCB3}" type="datetimeFigureOut">
              <a:t>10/28/2026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0593DA-4926-4E70-94A0-F6037218104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952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HOOK (about 1 minute). Put the car-window image up and let it sit for a moment before speaking. - “Most of you know this image: a hand on a steamed-up car window in the hold of the Titanic. It’s a love story between two people from very different decks of the same ship.” - “Rose travels first class. Jack travels third class. In the film, one of them survives. Today we ask: could the data have predicted which one?” - Promise: by the end we will put both of them into a real statistical model, trained on real passengers, and read off their chances. - Set the tone: no prior experience needed. Everything today is built from one question and one table. Transition: “Before we start, here is what you’ll be able to do in ten minutes.”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LEARNING OUTCOMES (about 45 seconds). Keep this brisk. - Outcome 1, the Data Science cycle: the map of any data project, from a question to an answer you can communicate. - Outcome 2, supervised learning: learning from examples where we already know the answer (the “label”), then checking on examples the model has not seen. - Reassure: no formulas to memorise today. The maths we use is one equation, and we’ll build intuition for it. - Optional engagement: “Hands up if you’ve heard the term ‘machine learning’. Keep your hand up if you could explain it to a friend.” We’ll fix that in ten minutes. Transition: “Let’s start with the map.”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DATA SCIENCE CYCLE (about 1 minute 15 seconds). Walk left to right, one sentence per stage, always with the Titanic example: 1. Question: who survived, and why? Without a clear question, data is just numbers. 2. Collect: passenger records from 1912, including class, sex and age. 3. Clean: real data is messy; about one passenger in five has no recorded age. 4. Explore: look before you model, using simple tables and charts. 5. Model: let the data learn the pattern. Today, logistic regression. 6. Evaluate: test the model honestly on passengers it has never seen. Then the arrow back: we communicate what we found, and it always raises a better question. It’s a cycle, not a straight line. Point at the bracket: stages 5 and 6 are where supervised learning lives, and they are the heart of today. Transition: “Let’s go round the cycle with the Titanic.”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FROM A TRAGEDY TO A TABLE (about 1 minute 45 seconds). This covers stages 2 to 4 of the cycle. - The human scale first: roughly 2,220 people on board, about 1,500 died, and only 1,178 lifeboat seats. Pause: there were not enough seats for everyone, so somebody decided who got one. - Collect: our dataset has 1,309 passengers. Each passenger becomes one row. - Key vocabulary: the column we want to predict is the LABEL (y): Survived. The columns we use to predict it are FEATURES (x): class, sex, age. That split between label and features is what makes this supervised learning. - Clean: 263 passengers have no recorded age. Today we simply remove them, leaving 1,046. Ask: “Is that a neutral choice? Who might be more likely to have a missing age?” (Often third-class passengers, whose records were less complete.) - Explore: women 75% vs men 21%; first class 64% vs third class 26%. “Women and children first” is visible in the data before any model. Question to the room: “If you had to guess with one variable only, which would you use?” (Sex.) Transition: “Exploring shows us patterns one at a time. A model combines them.”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60CB5-DF64-003B-F2A4-7428E8152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D5E347-5D6D-1BD0-AE55-F64054EF64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A1F398-6030-3552-086F-B51098565F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ROSE AND JACK, AND WRAP-UP (about 1 minute 30 seconds). - Rose and Jack are fictional, but we can describe them in the model’s language: Rose is 1st class, female, 17; Jack is 3rd class, male, 20. - Same model, same equation: Rose gets about a 94% predicted chance of survival, Jack about 12%. The film’s ending and the data agree. - But be careful with the words: 12% is not 0%. Some third-class men did survive. A model gives probabilities, not destinies. - Correlation, not causation: the model doesn’t know WHY class mattered (distance from the lifeboats, locked gates, who was told first). It only knows that it did. - Close the loop: we went round the Data Science cycle (question, data, clean, explore, model, evaluate), and now we communicate. And a better question appears: “Was the lifeboat rule applied equally on every deck?” - Recap of the two learning outcomes in one sentence each. Call to action: open the Shiny app, move the training slider, fit the model, and enter yourself in the prediction panel. Who in the room would have made it to a lifeboat?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306356-3814-61AD-C99F-C1E07D1DA6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1919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ROSE AND JACK, AND WRAP-UP (about 1 minute 30 seconds). - Rose and Jack are fictional, but we can describe them in the model’s language: Rose is 1st class, female, 17; Jack is 3rd class, male, 20. - Same model, same equation: Rose gets about a 94% predicted chance of survival, Jack about 12%. The film’s ending and the data agree. - But be careful with the words: 12% is not 0%. Some third-class men did survive. A model gives probabilities, not destinies. - Correlation, not causation: the model doesn’t know WHY class mattered (distance from the lifeboats, locked gates, who was told first). It only knows that it did. - Close the loop: we went round the Data Science cycle (question, data, clean, explore, model, evaluate), and now we communicate. And a better question appears: “Was the lifeboat rule applied equally on every deck?” - Recap of the two learning outcomes in one sentence each. Call to action: open the Shiny app, move the training slider, fit the model, and enter yourself in the prediction panel. Who in the room would have made it to a lifeboat?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SUPERVISED LEARNING (about 2 minutes). Stage 5 of the cycle. - Define it: supervised learning means learning from examples where we already know the answer. We show the model passengers AND whether they survived, and it learns the pattern that links the two. - Step 1, Split: we hide 314 passengers in a drawer. The model never sees them while learning. Analogy: you don’t revise from the exact exam paper you’ll sit. - Step 2, Fit: logistic regression. Read the equation from the inside out: each feature adds or subtracts from a score η (the log-odds). That score can be any number, from minus infinity to plus infinity. - Step 3, Predict: the S-shaped logistic function squashes η into a probability between 0 and 1. Then we choose a rule: above 0.5, predict “survived”. - Read the table: being male multiplies the odds of survival by 0.085, roughly 12 times lower. Third class vs first: about 9 times lower. Every 10 extra years: 26% lower odds. - Rigour point: these are ODDS ratios, not probability ratios, and each is “holding the other features fixed”. Question: “Which single feature matters most?” (Sex. Its odds ratio is furthest from 1.) Transition: “A model always gives answers. The question is whether they are any good.”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EVALUATE (about 1 minute 45 seconds). Stage 6 of the cycle. - The confusion matrix compares predictions with reality for the 314 hidden passengers. Diagonal (blue) = correct; off-diagonal (rust) = mistakes. - Accuracy: (154 + 96) / 314 = 79.6%. Sounds good, but compared with what? - The baseline: a “model” that ignores everyone’s details and always says “died” is already right 58% of the time, because most people died. That is the majority class. Our model is 21.6 points better than this, which is its real contribution. - Two kinds of mistake: 36 false negatives (survivors we said would die) and 28 false positives. Sensitivity 72.7%: we spot about 3 in 4 survivors. Specificity 84.6%: we spot about 5 in 6 deaths. - Point out: the always-“died” baseline has 100% specificity but 0% sensitivity. One number never tells the whole story. Question: “If this were a medical test for a disease, which mistake would worry you more?” Changing the 0.5 threshold trades one kind of mistake for the other, and students can try this in the Shiny app. Transition: “So, back to the car window.”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9024D-ADAB-9423-29F2-688A4A6C6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8FF39F-AD1B-828C-B030-D60C9B95E6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2F2A18-CFF8-0662-C6C7-3CE27A1DF5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ROSE AND JACK, AND WRAP-UP (about 1 minute 30 seconds). - Rose and Jack are fictional, but we can describe them in the model’s language: Rose is 1st class, female, 17; Jack is 3rd class, male, 20. - Same model, same equation: Rose gets about a 94% predicted chance of survival, Jack about 12%. The film’s ending and the data agree. - But be careful with the words: 12% is not 0%. Some third-class men did survive. A model gives probabilities, not destinies. - Correlation, not causation: the model doesn’t know WHY class mattered (distance from the lifeboats, locked gates, who was told first). It only knows that it did. - Close the loop: we went round the Data Science cycle (question, data, clean, explore, model, evaluate), and now we communicate. And a better question appears: “Was the lifeboat rule applied equally on every deck?” - Recap of the two learning outcomes in one sentence each. Call to action: open the Shiny app, move the training slider, fit the model, and enter yourself in the prediction panel. Who in the room would have made it to a lifeboat?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4F9320-2BD5-5B23-1B96-B2166B305D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837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0F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0F1E2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0F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0F1E2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973580"/>
            <a:ext cx="59126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>
                <a:solidFill>
                  <a:srgbClr val="C89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 &amp; AI · MICRO-LECTURE</a:t>
            </a:r>
            <a:endParaRPr lang="en-US" sz="14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425700"/>
            <a:ext cx="5912612" cy="157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120"/>
              </a:lnSpc>
              <a:buNone/>
            </a:pPr>
            <a:r>
              <a:rPr lang="en-US" sz="6000" b="0" i="0">
                <a:solidFill>
                  <a:srgbClr val="F4F0E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Who survives the Titanic?</a:t>
            </a:r>
            <a:endParaRPr lang="en-US" sz="6000"/>
          </a:p>
        </p:txBody>
      </p:sp>
      <p:sp>
        <p:nvSpPr>
          <p:cNvPr id="4" name="Text 2"/>
          <p:cNvSpPr/>
          <p:nvPr/>
        </p:nvSpPr>
        <p:spPr>
          <a:xfrm>
            <a:off x="812800" y="4183380"/>
            <a:ext cx="591261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>
                <a:solidFill>
                  <a:srgbClr val="C9D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night in April 1912 to a supervised learning model</a:t>
            </a:r>
            <a:endParaRPr lang="en-US" sz="1600"/>
          </a:p>
        </p:txBody>
      </p:sp>
      <p:sp>
        <p:nvSpPr>
          <p:cNvPr id="5" name="Text 3"/>
          <p:cNvSpPr/>
          <p:nvPr/>
        </p:nvSpPr>
        <p:spPr>
          <a:xfrm>
            <a:off x="812800" y="4671060"/>
            <a:ext cx="591261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>
                <a:solidFill>
                  <a:srgbClr val="C9D4DE"/>
                </a:solidFill>
                <a:latin typeface="Arial"/>
                <a:ea typeface="Arial" pitchFamily="34" charset="-122"/>
                <a:cs typeface="Arial"/>
              </a:rPr>
              <a:t>PhD. Jorge Sánchez · Tutor in Mathematics &amp; Data Analytics </a:t>
            </a:r>
            <a:endParaRPr lang="en-US" sz="1200">
              <a:latin typeface="Arial"/>
              <a:cs typeface="Arial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070725" y="1403985"/>
            <a:ext cx="4898390" cy="3735070"/>
          </a:xfrm>
          <a:prstGeom prst="roundRect">
            <a:avLst>
              <a:gd name="adj" fmla="val 1551"/>
            </a:avLst>
          </a:prstGeom>
          <a:noFill/>
          <a:ln w="19050">
            <a:solidFill>
              <a:srgbClr val="C8923A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7061200" y="5595620"/>
            <a:ext cx="513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>
              <a:solidFill>
                <a:srgbClr val="C9D4DE"/>
              </a:solidFill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9BA6D1-7925-DA6C-DFC8-C40E3B2795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5645" y="1405255"/>
            <a:ext cx="4999990" cy="38950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>
                <a:solidFill>
                  <a:srgbClr val="A44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OUTCOMES</a:t>
            </a:r>
            <a:endParaRPr lang="en-US" sz="14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6332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960"/>
              </a:lnSpc>
            </a:pPr>
            <a:r>
              <a:rPr lang="en-US" sz="3600" b="0" i="0">
                <a:solidFill>
                  <a:srgbClr val="0F1E2E"/>
                </a:solidFill>
                <a:latin typeface="Georgia"/>
                <a:ea typeface="Georgia" pitchFamily="18" charset="-122"/>
                <a:cs typeface="Georgia" pitchFamily="18" charset="-120"/>
              </a:rPr>
              <a:t>By the end of </a:t>
            </a:r>
            <a:r>
              <a:rPr lang="en-US">
                <a:latin typeface="Georgia"/>
                <a:ea typeface="Georgia" pitchFamily="18" charset="-122"/>
                <a:cs typeface="Georgia" pitchFamily="18" charset="-120"/>
              </a:rPr>
              <a:t>this session</a:t>
            </a:r>
            <a:r>
              <a:rPr lang="en-US" sz="3600" b="0" i="0">
                <a:solidFill>
                  <a:srgbClr val="0F1E2E"/>
                </a:solidFill>
                <a:latin typeface="Georgia"/>
                <a:ea typeface="Georgia" pitchFamily="18" charset="-122"/>
                <a:cs typeface="Georgia" pitchFamily="18" charset="-120"/>
              </a:rPr>
              <a:t>, you will be able to…</a:t>
            </a:r>
            <a:endParaRPr lang="en-US" sz="3600">
              <a:latin typeface="Georgi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15975" y="1974215"/>
            <a:ext cx="5124450" cy="2818130"/>
          </a:xfrm>
          <a:prstGeom prst="roundRect">
            <a:avLst>
              <a:gd name="adj" fmla="val 3493"/>
            </a:avLst>
          </a:prstGeom>
          <a:solidFill>
            <a:srgbClr val="FBF9F4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2680" y="2280920"/>
            <a:ext cx="4646371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>
                <a:solidFill>
                  <a:srgbClr val="A4471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1</a:t>
            </a:r>
            <a:endParaRPr lang="en-US" sz="6000"/>
          </a:p>
        </p:txBody>
      </p:sp>
      <p:sp>
        <p:nvSpPr>
          <p:cNvPr id="6" name="Text 4"/>
          <p:cNvSpPr/>
          <p:nvPr/>
        </p:nvSpPr>
        <p:spPr>
          <a:xfrm>
            <a:off x="1122680" y="3169920"/>
            <a:ext cx="4646371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>
                <a:solidFill>
                  <a:srgbClr val="0F1E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The Data Science cycle</a:t>
            </a:r>
            <a:endParaRPr lang="en-US" sz="2200"/>
          </a:p>
        </p:txBody>
      </p:sp>
      <p:sp>
        <p:nvSpPr>
          <p:cNvPr id="7" name="Text 5"/>
          <p:cNvSpPr/>
          <p:nvPr/>
        </p:nvSpPr>
        <p:spPr>
          <a:xfrm>
            <a:off x="1122680" y="3632200"/>
            <a:ext cx="464637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>
                <a:solidFill>
                  <a:srgbClr val="3D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its stages, and place each step of a real project, the Titanic, in the right one.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6251575" y="1974215"/>
            <a:ext cx="5124450" cy="2818130"/>
          </a:xfrm>
          <a:prstGeom prst="roundRect">
            <a:avLst>
              <a:gd name="adj" fmla="val 3493"/>
            </a:avLst>
          </a:prstGeom>
          <a:solidFill>
            <a:srgbClr val="FBF9F4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58280" y="2280920"/>
            <a:ext cx="4646371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>
                <a:solidFill>
                  <a:srgbClr val="A4471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2</a:t>
            </a:r>
            <a:endParaRPr lang="en-US" sz="6000"/>
          </a:p>
        </p:txBody>
      </p:sp>
      <p:sp>
        <p:nvSpPr>
          <p:cNvPr id="10" name="Text 8"/>
          <p:cNvSpPr/>
          <p:nvPr/>
        </p:nvSpPr>
        <p:spPr>
          <a:xfrm>
            <a:off x="6558280" y="3169920"/>
            <a:ext cx="4646371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>
                <a:solidFill>
                  <a:srgbClr val="0F1E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Supervised learning</a:t>
            </a:r>
            <a:endParaRPr lang="en-US" sz="2200"/>
          </a:p>
        </p:txBody>
      </p:sp>
      <p:sp>
        <p:nvSpPr>
          <p:cNvPr id="11" name="Text 9"/>
          <p:cNvSpPr/>
          <p:nvPr/>
        </p:nvSpPr>
        <p:spPr>
          <a:xfrm>
            <a:off x="6558280" y="3632200"/>
            <a:ext cx="4646371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>
                <a:solidFill>
                  <a:srgbClr val="3D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how a model learns from labelled examples, and judge it fairly on data it has never seen.</a:t>
            </a:r>
            <a:endParaRPr lang="en-US"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>
                <a:solidFill>
                  <a:srgbClr val="0F1E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The Data Science cycle</a:t>
            </a:r>
            <a:endParaRPr lang="en-US" sz="3600"/>
          </a:p>
        </p:txBody>
      </p:sp>
      <p:sp>
        <p:nvSpPr>
          <p:cNvPr id="3" name="Text 1"/>
          <p:cNvSpPr/>
          <p:nvPr/>
        </p:nvSpPr>
        <p:spPr>
          <a:xfrm>
            <a:off x="812800" y="146812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>
                <a:solidFill>
                  <a:srgbClr val="3D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stages, one loop. Each one has a job in the Titanic project.</a:t>
            </a:r>
            <a:endParaRPr lang="en-US" sz="1600"/>
          </a:p>
        </p:txBody>
      </p:sp>
      <p:sp>
        <p:nvSpPr>
          <p:cNvPr id="4" name="Text 2"/>
          <p:cNvSpPr/>
          <p:nvPr/>
        </p:nvSpPr>
        <p:spPr>
          <a:xfrm>
            <a:off x="8028242" y="2222500"/>
            <a:ext cx="336181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0F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Today’s focus: supervised learning</a:t>
            </a:r>
            <a:endParaRPr lang="en-US" sz="1200"/>
          </a:p>
        </p:txBody>
      </p:sp>
      <p:pic>
        <p:nvPicPr>
          <p:cNvPr id="5" name="Image 0" descr="line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8077200" y="2514600"/>
            <a:ext cx="3263900" cy="3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5975" y="2670175"/>
            <a:ext cx="1441450" cy="1898650"/>
          </a:xfrm>
          <a:prstGeom prst="roundRect">
            <a:avLst>
              <a:gd name="adj" fmla="val 5947"/>
            </a:avLst>
          </a:prstGeom>
          <a:solidFill>
            <a:srgbClr val="FBF9F4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70280" y="2824480"/>
            <a:ext cx="11836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>
                <a:solidFill>
                  <a:srgbClr val="A44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/>
          </a:p>
        </p:txBody>
      </p:sp>
      <p:sp>
        <p:nvSpPr>
          <p:cNvPr id="8" name="Text 5"/>
          <p:cNvSpPr/>
          <p:nvPr/>
        </p:nvSpPr>
        <p:spPr>
          <a:xfrm>
            <a:off x="970280" y="3088641"/>
            <a:ext cx="118364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>
                <a:solidFill>
                  <a:srgbClr val="0F1E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Question</a:t>
            </a:r>
            <a:endParaRPr lang="en-US" sz="1800"/>
          </a:p>
        </p:txBody>
      </p:sp>
      <p:sp>
        <p:nvSpPr>
          <p:cNvPr id="9" name="Text 6"/>
          <p:cNvSpPr/>
          <p:nvPr/>
        </p:nvSpPr>
        <p:spPr>
          <a:xfrm>
            <a:off x="970280" y="3413761"/>
            <a:ext cx="118364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>
                <a:solidFill>
                  <a:srgbClr val="3D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survived, and why?</a:t>
            </a:r>
            <a:endParaRPr lang="en-US" sz="1200"/>
          </a:p>
        </p:txBody>
      </p:sp>
      <p:sp>
        <p:nvSpPr>
          <p:cNvPr id="10" name="Shape 7"/>
          <p:cNvSpPr/>
          <p:nvPr/>
        </p:nvSpPr>
        <p:spPr>
          <a:xfrm>
            <a:off x="2632075" y="2670175"/>
            <a:ext cx="1441450" cy="1898650"/>
          </a:xfrm>
          <a:prstGeom prst="roundRect">
            <a:avLst>
              <a:gd name="adj" fmla="val 5947"/>
            </a:avLst>
          </a:prstGeom>
          <a:solidFill>
            <a:srgbClr val="FBF9F4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86380" y="2824480"/>
            <a:ext cx="11836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>
                <a:solidFill>
                  <a:srgbClr val="A44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/>
          </a:p>
        </p:txBody>
      </p:sp>
      <p:sp>
        <p:nvSpPr>
          <p:cNvPr id="12" name="Text 9"/>
          <p:cNvSpPr/>
          <p:nvPr/>
        </p:nvSpPr>
        <p:spPr>
          <a:xfrm>
            <a:off x="2786380" y="3088641"/>
            <a:ext cx="118364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>
                <a:solidFill>
                  <a:srgbClr val="0F1E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Collect</a:t>
            </a:r>
            <a:endParaRPr lang="en-US" sz="1800"/>
          </a:p>
        </p:txBody>
      </p:sp>
      <p:sp>
        <p:nvSpPr>
          <p:cNvPr id="13" name="Text 10"/>
          <p:cNvSpPr/>
          <p:nvPr/>
        </p:nvSpPr>
        <p:spPr>
          <a:xfrm>
            <a:off x="2786380" y="3413761"/>
            <a:ext cx="1183640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>
                <a:solidFill>
                  <a:srgbClr val="3D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Passenger records from 1912</a:t>
            </a:r>
            <a:endParaRPr lang="en-US" sz="1200"/>
          </a:p>
        </p:txBody>
      </p:sp>
      <p:sp>
        <p:nvSpPr>
          <p:cNvPr id="14" name="Shape 11"/>
          <p:cNvSpPr/>
          <p:nvPr/>
        </p:nvSpPr>
        <p:spPr>
          <a:xfrm>
            <a:off x="4448175" y="2670175"/>
            <a:ext cx="1441450" cy="1898650"/>
          </a:xfrm>
          <a:prstGeom prst="roundRect">
            <a:avLst>
              <a:gd name="adj" fmla="val 5947"/>
            </a:avLst>
          </a:prstGeom>
          <a:solidFill>
            <a:srgbClr val="FBF9F4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02480" y="2824480"/>
            <a:ext cx="11836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>
                <a:solidFill>
                  <a:srgbClr val="A44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/>
          </a:p>
        </p:txBody>
      </p:sp>
      <p:sp>
        <p:nvSpPr>
          <p:cNvPr id="16" name="Text 13"/>
          <p:cNvSpPr/>
          <p:nvPr/>
        </p:nvSpPr>
        <p:spPr>
          <a:xfrm>
            <a:off x="4602480" y="3088641"/>
            <a:ext cx="118364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>
                <a:solidFill>
                  <a:srgbClr val="0F1E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Clean</a:t>
            </a:r>
            <a:endParaRPr lang="en-US" sz="1800"/>
          </a:p>
        </p:txBody>
      </p:sp>
      <p:sp>
        <p:nvSpPr>
          <p:cNvPr id="17" name="Text 14"/>
          <p:cNvSpPr/>
          <p:nvPr/>
        </p:nvSpPr>
        <p:spPr>
          <a:xfrm>
            <a:off x="4602480" y="3413761"/>
            <a:ext cx="118364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>
                <a:solidFill>
                  <a:srgbClr val="3D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 with missing ages</a:t>
            </a:r>
            <a:endParaRPr lang="en-US" sz="1200"/>
          </a:p>
        </p:txBody>
      </p:sp>
      <p:sp>
        <p:nvSpPr>
          <p:cNvPr id="18" name="Shape 15"/>
          <p:cNvSpPr/>
          <p:nvPr/>
        </p:nvSpPr>
        <p:spPr>
          <a:xfrm>
            <a:off x="6264275" y="2670175"/>
            <a:ext cx="1441450" cy="1898650"/>
          </a:xfrm>
          <a:prstGeom prst="roundRect">
            <a:avLst>
              <a:gd name="adj" fmla="val 5947"/>
            </a:avLst>
          </a:prstGeom>
          <a:solidFill>
            <a:srgbClr val="FBF9F4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18580" y="2824480"/>
            <a:ext cx="11836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>
                <a:solidFill>
                  <a:srgbClr val="A44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/>
          </a:p>
        </p:txBody>
      </p:sp>
      <p:sp>
        <p:nvSpPr>
          <p:cNvPr id="20" name="Text 17"/>
          <p:cNvSpPr/>
          <p:nvPr/>
        </p:nvSpPr>
        <p:spPr>
          <a:xfrm>
            <a:off x="6418580" y="3088641"/>
            <a:ext cx="118364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>
                <a:solidFill>
                  <a:srgbClr val="0F1E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Explore</a:t>
            </a:r>
            <a:endParaRPr lang="en-US" sz="1800"/>
          </a:p>
        </p:txBody>
      </p:sp>
      <p:sp>
        <p:nvSpPr>
          <p:cNvPr id="21" name="Text 18"/>
          <p:cNvSpPr/>
          <p:nvPr/>
        </p:nvSpPr>
        <p:spPr>
          <a:xfrm>
            <a:off x="6418580" y="3413761"/>
            <a:ext cx="118364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>
                <a:solidFill>
                  <a:srgbClr val="3D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Survival by sex, class and age</a:t>
            </a:r>
            <a:endParaRPr lang="en-US" sz="1200"/>
          </a:p>
        </p:txBody>
      </p:sp>
      <p:sp>
        <p:nvSpPr>
          <p:cNvPr id="22" name="Shape 19"/>
          <p:cNvSpPr/>
          <p:nvPr/>
        </p:nvSpPr>
        <p:spPr>
          <a:xfrm>
            <a:off x="8086725" y="2676525"/>
            <a:ext cx="1428750" cy="1885950"/>
          </a:xfrm>
          <a:prstGeom prst="roundRect">
            <a:avLst>
              <a:gd name="adj" fmla="val 5556"/>
            </a:avLst>
          </a:prstGeom>
          <a:solidFill>
            <a:srgbClr val="E3EAF1"/>
          </a:solidFill>
          <a:ln w="19050">
            <a:solidFill>
              <a:srgbClr val="0F1E2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44840" y="2834641"/>
            <a:ext cx="11633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>
                <a:solidFill>
                  <a:srgbClr val="A44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/>
          </a:p>
        </p:txBody>
      </p:sp>
      <p:sp>
        <p:nvSpPr>
          <p:cNvPr id="24" name="Text 21"/>
          <p:cNvSpPr/>
          <p:nvPr/>
        </p:nvSpPr>
        <p:spPr>
          <a:xfrm>
            <a:off x="8244840" y="3098800"/>
            <a:ext cx="116332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>
                <a:solidFill>
                  <a:srgbClr val="0F1E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Model</a:t>
            </a:r>
            <a:endParaRPr lang="en-US" sz="1800"/>
          </a:p>
        </p:txBody>
      </p:sp>
      <p:sp>
        <p:nvSpPr>
          <p:cNvPr id="25" name="Text 22"/>
          <p:cNvSpPr/>
          <p:nvPr/>
        </p:nvSpPr>
        <p:spPr>
          <a:xfrm>
            <a:off x="8244840" y="3423920"/>
            <a:ext cx="1163320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>
                <a:solidFill>
                  <a:srgbClr val="3D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 on training data</a:t>
            </a:r>
            <a:endParaRPr lang="en-US" sz="1200"/>
          </a:p>
        </p:txBody>
      </p:sp>
      <p:sp>
        <p:nvSpPr>
          <p:cNvPr id="26" name="Shape 23"/>
          <p:cNvSpPr/>
          <p:nvPr/>
        </p:nvSpPr>
        <p:spPr>
          <a:xfrm>
            <a:off x="9902825" y="2676525"/>
            <a:ext cx="1428750" cy="1885950"/>
          </a:xfrm>
          <a:prstGeom prst="roundRect">
            <a:avLst>
              <a:gd name="adj" fmla="val 5556"/>
            </a:avLst>
          </a:prstGeom>
          <a:solidFill>
            <a:srgbClr val="E3EAF1"/>
          </a:solidFill>
          <a:ln w="19050">
            <a:solidFill>
              <a:srgbClr val="0F1E2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060940" y="2834641"/>
            <a:ext cx="11633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>
                <a:solidFill>
                  <a:srgbClr val="A44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/>
          </a:p>
        </p:txBody>
      </p:sp>
      <p:sp>
        <p:nvSpPr>
          <p:cNvPr id="28" name="Text 25"/>
          <p:cNvSpPr/>
          <p:nvPr/>
        </p:nvSpPr>
        <p:spPr>
          <a:xfrm>
            <a:off x="10060940" y="3098800"/>
            <a:ext cx="116332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>
                <a:solidFill>
                  <a:srgbClr val="0F1E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Evaluate</a:t>
            </a:r>
            <a:endParaRPr lang="en-US" sz="1800"/>
          </a:p>
        </p:txBody>
      </p:sp>
      <p:sp>
        <p:nvSpPr>
          <p:cNvPr id="29" name="Text 26"/>
          <p:cNvSpPr/>
          <p:nvPr/>
        </p:nvSpPr>
        <p:spPr>
          <a:xfrm>
            <a:off x="10060940" y="3423920"/>
            <a:ext cx="1163320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>
                <a:solidFill>
                  <a:srgbClr val="3D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 matrix on test data</a:t>
            </a:r>
            <a:endParaRPr lang="en-US" sz="1200"/>
          </a:p>
        </p:txBody>
      </p:sp>
      <p:pic>
        <p:nvPicPr>
          <p:cNvPr id="30" name="Image 1" descr="connecto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247900" y="3568700"/>
            <a:ext cx="393700" cy="101600"/>
          </a:xfrm>
          <a:prstGeom prst="rect">
            <a:avLst/>
          </a:prstGeom>
        </p:spPr>
      </p:pic>
      <p:pic>
        <p:nvPicPr>
          <p:cNvPr id="31" name="Image 2" descr="connecto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064000" y="3568700"/>
            <a:ext cx="393700" cy="101600"/>
          </a:xfrm>
          <a:prstGeom prst="rect">
            <a:avLst/>
          </a:prstGeom>
        </p:spPr>
      </p:pic>
      <p:pic>
        <p:nvPicPr>
          <p:cNvPr id="32" name="Image 3" descr="connecto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880100" y="3568700"/>
            <a:ext cx="393700" cy="101600"/>
          </a:xfrm>
          <a:prstGeom prst="rect">
            <a:avLst/>
          </a:prstGeom>
        </p:spPr>
      </p:pic>
      <p:pic>
        <p:nvPicPr>
          <p:cNvPr id="33" name="Image 4" descr="connecto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96200" y="3568700"/>
            <a:ext cx="393700" cy="101600"/>
          </a:xfrm>
          <a:prstGeom prst="rect">
            <a:avLst/>
          </a:prstGeom>
        </p:spPr>
      </p:pic>
      <p:pic>
        <p:nvPicPr>
          <p:cNvPr id="34" name="Image 5" descr="connecto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512300" y="3568700"/>
            <a:ext cx="393700" cy="101600"/>
          </a:xfrm>
          <a:prstGeom prst="rect">
            <a:avLst/>
          </a:prstGeom>
        </p:spPr>
      </p:pic>
      <p:pic>
        <p:nvPicPr>
          <p:cNvPr id="35" name="Image 6" descr="connector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566400" y="4559300"/>
            <a:ext cx="101600" cy="469900"/>
          </a:xfrm>
          <a:prstGeom prst="rect">
            <a:avLst/>
          </a:prstGeom>
        </p:spPr>
      </p:pic>
      <p:pic>
        <p:nvPicPr>
          <p:cNvPr id="36" name="Image 7" descr="connector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485900" y="4927600"/>
            <a:ext cx="9182100" cy="101600"/>
          </a:xfrm>
          <a:prstGeom prst="rect">
            <a:avLst/>
          </a:prstGeom>
        </p:spPr>
      </p:pic>
      <p:pic>
        <p:nvPicPr>
          <p:cNvPr id="37" name="Image 8" descr="connector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485900" y="4559300"/>
            <a:ext cx="101600" cy="46990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654304" y="50800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>
                <a:solidFill>
                  <a:srgbClr val="A44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Communicate what we found, then ask a better question</a:t>
            </a:r>
            <a:endParaRPr lang="en-US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>
                <a:solidFill>
                  <a:srgbClr val="0F1E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From a tragedy to a table</a:t>
            </a:r>
            <a:endParaRPr lang="en-US" sz="3600"/>
          </a:p>
        </p:txBody>
      </p:sp>
      <p:sp>
        <p:nvSpPr>
          <p:cNvPr id="3" name="Text 1"/>
          <p:cNvSpPr/>
          <p:nvPr/>
        </p:nvSpPr>
        <p:spPr>
          <a:xfrm>
            <a:off x="812800" y="1569720"/>
            <a:ext cx="3348736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>
                <a:solidFill>
                  <a:srgbClr val="0F1E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≈2,220</a:t>
            </a:r>
            <a:endParaRPr lang="en-US" sz="3600"/>
          </a:p>
        </p:txBody>
      </p:sp>
      <p:sp>
        <p:nvSpPr>
          <p:cNvPr id="4" name="Text 2"/>
          <p:cNvSpPr/>
          <p:nvPr/>
        </p:nvSpPr>
        <p:spPr>
          <a:xfrm>
            <a:off x="812800" y="2098041"/>
            <a:ext cx="33487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3D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on board, 14–15 April 1912</a:t>
            </a:r>
            <a:endParaRPr lang="en-US" sz="1200"/>
          </a:p>
        </p:txBody>
      </p:sp>
      <p:sp>
        <p:nvSpPr>
          <p:cNvPr id="5" name="Text 3"/>
          <p:cNvSpPr/>
          <p:nvPr/>
        </p:nvSpPr>
        <p:spPr>
          <a:xfrm>
            <a:off x="4470400" y="1569720"/>
            <a:ext cx="3348736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>
                <a:solidFill>
                  <a:srgbClr val="0F1E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≈1,500</a:t>
            </a:r>
            <a:endParaRPr lang="en-US" sz="3600"/>
          </a:p>
        </p:txBody>
      </p:sp>
      <p:sp>
        <p:nvSpPr>
          <p:cNvPr id="6" name="Text 4"/>
          <p:cNvSpPr/>
          <p:nvPr/>
        </p:nvSpPr>
        <p:spPr>
          <a:xfrm>
            <a:off x="4470400" y="2098041"/>
            <a:ext cx="33487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3D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died in the sinking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8128000" y="1569720"/>
            <a:ext cx="3348736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>
                <a:solidFill>
                  <a:srgbClr val="A4471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1,178</a:t>
            </a:r>
            <a:endParaRPr lang="en-US" sz="3600"/>
          </a:p>
        </p:txBody>
      </p:sp>
      <p:sp>
        <p:nvSpPr>
          <p:cNvPr id="8" name="Text 6"/>
          <p:cNvSpPr/>
          <p:nvPr/>
        </p:nvSpPr>
        <p:spPr>
          <a:xfrm>
            <a:off x="8128000" y="2098041"/>
            <a:ext cx="33487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3D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lifeboat seats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812800" y="2565400"/>
            <a:ext cx="5232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>
                <a:solidFill>
                  <a:srgbClr val="0F1E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Every passenger becomes a row</a:t>
            </a:r>
            <a:endParaRPr lang="en-US" sz="200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981960"/>
          <a:ext cx="5069840" cy="1784350"/>
        </p:xfrm>
        <a:graphic>
          <a:graphicData uri="http://schemas.openxmlformats.org/drawingml/2006/table">
            <a:tbl>
              <a:tblPr/>
              <a:tblGrid>
                <a:gridCol w="1419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3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65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>
                          <a:solidFill>
                            <a:srgbClr val="0F1E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Variable</a:t>
                      </a:r>
                      <a:endParaRPr lang="en-US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E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>
                          <a:solidFill>
                            <a:srgbClr val="0F1E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Values</a:t>
                      </a:r>
                      <a:endParaRPr lang="en-US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5B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E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>
                          <a:solidFill>
                            <a:srgbClr val="0F1E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5B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>
                          <a:solidFill>
                            <a:srgbClr val="0F1E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Survived</a:t>
                      </a:r>
                      <a:endParaRPr lang="en-US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>
                          <a:solidFill>
                            <a:srgbClr val="0F1E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/ No</a:t>
                      </a:r>
                      <a:endParaRPr lang="en-US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>
                          <a:solidFill>
                            <a:srgbClr val="0F1E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Label y (to predict)</a:t>
                      </a:r>
                      <a:endParaRPr lang="en-US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>
                          <a:solidFill>
                            <a:srgbClr val="0F1E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>
                          <a:solidFill>
                            <a:srgbClr val="0F1E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1st, 2nd, 3rd</a:t>
                      </a:r>
                      <a:endParaRPr lang="en-US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>
                          <a:solidFill>
                            <a:srgbClr val="0F1E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 x₁</a:t>
                      </a:r>
                      <a:endParaRPr lang="en-US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>
                          <a:solidFill>
                            <a:srgbClr val="0F1E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Sex</a:t>
                      </a:r>
                      <a:endParaRPr lang="en-US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>
                          <a:solidFill>
                            <a:srgbClr val="0F1E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female, male</a:t>
                      </a:r>
                      <a:endParaRPr lang="en-US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>
                          <a:solidFill>
                            <a:srgbClr val="0F1E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 x₂</a:t>
                      </a:r>
                      <a:endParaRPr lang="en-US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>
                          <a:solidFill>
                            <a:srgbClr val="0F1E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</a:t>
                      </a:r>
                      <a:endParaRPr lang="en-US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>
                          <a:solidFill>
                            <a:srgbClr val="0F1E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 – 80 years</a:t>
                      </a:r>
                      <a:endParaRPr lang="en-US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>
                          <a:solidFill>
                            <a:srgbClr val="0F1E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 x₃</a:t>
                      </a:r>
                      <a:endParaRPr lang="en-US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6299200" y="2565400"/>
            <a:ext cx="5232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>
                <a:solidFill>
                  <a:srgbClr val="0F1E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Explore: survival rate</a:t>
            </a:r>
            <a:endParaRPr lang="en-US" sz="2000"/>
          </a:p>
        </p:txBody>
      </p:sp>
      <p:sp>
        <p:nvSpPr>
          <p:cNvPr id="12" name="Text 9"/>
          <p:cNvSpPr/>
          <p:nvPr/>
        </p:nvSpPr>
        <p:spPr>
          <a:xfrm>
            <a:off x="6299200" y="2946400"/>
            <a:ext cx="8763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>
                <a:solidFill>
                  <a:srgbClr val="0F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</a:t>
            </a:r>
            <a:endParaRPr lang="en-US" sz="1300"/>
          </a:p>
        </p:txBody>
      </p:sp>
      <p:sp>
        <p:nvSpPr>
          <p:cNvPr id="13" name="Shape 10"/>
          <p:cNvSpPr/>
          <p:nvPr/>
        </p:nvSpPr>
        <p:spPr>
          <a:xfrm>
            <a:off x="7226300" y="2947670"/>
            <a:ext cx="3416300" cy="228600"/>
          </a:xfrm>
          <a:prstGeom prst="roundRect">
            <a:avLst>
              <a:gd name="adj" fmla="val 16667"/>
            </a:avLst>
          </a:prstGeom>
          <a:solidFill>
            <a:srgbClr val="E2DACA"/>
          </a:solidFill>
          <a:ln/>
        </p:spPr>
      </p:sp>
      <p:sp>
        <p:nvSpPr>
          <p:cNvPr id="14" name="Shape 11"/>
          <p:cNvSpPr/>
          <p:nvPr/>
        </p:nvSpPr>
        <p:spPr>
          <a:xfrm>
            <a:off x="7226300" y="2947670"/>
            <a:ext cx="2527300" cy="228600"/>
          </a:xfrm>
          <a:prstGeom prst="roundRect">
            <a:avLst>
              <a:gd name="adj" fmla="val 16667"/>
            </a:avLst>
          </a:prstGeom>
          <a:solidFill>
            <a:srgbClr val="2E5E8C"/>
          </a:solidFill>
          <a:ln/>
        </p:spPr>
      </p:sp>
      <p:sp>
        <p:nvSpPr>
          <p:cNvPr id="15" name="Text 12"/>
          <p:cNvSpPr/>
          <p:nvPr/>
        </p:nvSpPr>
        <p:spPr>
          <a:xfrm>
            <a:off x="10693400" y="2946400"/>
            <a:ext cx="685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b="1">
                <a:solidFill>
                  <a:srgbClr val="0F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75.3%</a:t>
            </a:r>
            <a:endParaRPr lang="en-US" sz="1300"/>
          </a:p>
        </p:txBody>
      </p:sp>
      <p:sp>
        <p:nvSpPr>
          <p:cNvPr id="16" name="Text 13"/>
          <p:cNvSpPr/>
          <p:nvPr/>
        </p:nvSpPr>
        <p:spPr>
          <a:xfrm>
            <a:off x="6299200" y="3253741"/>
            <a:ext cx="8763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>
                <a:solidFill>
                  <a:srgbClr val="0F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Male</a:t>
            </a:r>
            <a:endParaRPr lang="en-US" sz="1300"/>
          </a:p>
        </p:txBody>
      </p:sp>
      <p:sp>
        <p:nvSpPr>
          <p:cNvPr id="17" name="Shape 14"/>
          <p:cNvSpPr/>
          <p:nvPr/>
        </p:nvSpPr>
        <p:spPr>
          <a:xfrm>
            <a:off x="7226300" y="3255011"/>
            <a:ext cx="3416300" cy="228600"/>
          </a:xfrm>
          <a:prstGeom prst="roundRect">
            <a:avLst>
              <a:gd name="adj" fmla="val 16667"/>
            </a:avLst>
          </a:prstGeom>
          <a:solidFill>
            <a:srgbClr val="E2DACA"/>
          </a:solidFill>
          <a:ln/>
        </p:spPr>
      </p:sp>
      <p:sp>
        <p:nvSpPr>
          <p:cNvPr id="18" name="Shape 15"/>
          <p:cNvSpPr/>
          <p:nvPr/>
        </p:nvSpPr>
        <p:spPr>
          <a:xfrm>
            <a:off x="7226300" y="3255011"/>
            <a:ext cx="685800" cy="228600"/>
          </a:xfrm>
          <a:prstGeom prst="roundRect">
            <a:avLst>
              <a:gd name="adj" fmla="val 16667"/>
            </a:avLst>
          </a:prstGeom>
          <a:solidFill>
            <a:srgbClr val="2E5E8C"/>
          </a:solidFill>
          <a:ln/>
        </p:spPr>
      </p:sp>
      <p:sp>
        <p:nvSpPr>
          <p:cNvPr id="19" name="Text 16"/>
          <p:cNvSpPr/>
          <p:nvPr/>
        </p:nvSpPr>
        <p:spPr>
          <a:xfrm>
            <a:off x="10693400" y="3253741"/>
            <a:ext cx="685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b="1">
                <a:solidFill>
                  <a:srgbClr val="0F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20.5%</a:t>
            </a:r>
            <a:endParaRPr lang="en-US" sz="1300"/>
          </a:p>
        </p:txBody>
      </p:sp>
      <p:sp>
        <p:nvSpPr>
          <p:cNvPr id="20" name="Text 17"/>
          <p:cNvSpPr/>
          <p:nvPr/>
        </p:nvSpPr>
        <p:spPr>
          <a:xfrm>
            <a:off x="6299200" y="3561080"/>
            <a:ext cx="8763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>
                <a:solidFill>
                  <a:srgbClr val="0F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1st class</a:t>
            </a:r>
            <a:endParaRPr lang="en-US" sz="1300"/>
          </a:p>
        </p:txBody>
      </p:sp>
      <p:sp>
        <p:nvSpPr>
          <p:cNvPr id="21" name="Shape 18"/>
          <p:cNvSpPr/>
          <p:nvPr/>
        </p:nvSpPr>
        <p:spPr>
          <a:xfrm>
            <a:off x="7226300" y="3562350"/>
            <a:ext cx="3416300" cy="228600"/>
          </a:xfrm>
          <a:prstGeom prst="roundRect">
            <a:avLst>
              <a:gd name="adj" fmla="val 16667"/>
            </a:avLst>
          </a:prstGeom>
          <a:solidFill>
            <a:srgbClr val="E2DACA"/>
          </a:solidFill>
          <a:ln/>
        </p:spPr>
      </p:sp>
      <p:sp>
        <p:nvSpPr>
          <p:cNvPr id="22" name="Shape 19"/>
          <p:cNvSpPr/>
          <p:nvPr/>
        </p:nvSpPr>
        <p:spPr>
          <a:xfrm>
            <a:off x="7226300" y="3562350"/>
            <a:ext cx="2133600" cy="228600"/>
          </a:xfrm>
          <a:prstGeom prst="roundRect">
            <a:avLst>
              <a:gd name="adj" fmla="val 16667"/>
            </a:avLst>
          </a:prstGeom>
          <a:solidFill>
            <a:srgbClr val="A4471F"/>
          </a:solidFill>
          <a:ln/>
        </p:spPr>
      </p:sp>
      <p:sp>
        <p:nvSpPr>
          <p:cNvPr id="23" name="Text 20"/>
          <p:cNvSpPr/>
          <p:nvPr/>
        </p:nvSpPr>
        <p:spPr>
          <a:xfrm>
            <a:off x="10693400" y="3561080"/>
            <a:ext cx="685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b="1">
                <a:solidFill>
                  <a:srgbClr val="0F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63.7%</a:t>
            </a:r>
            <a:endParaRPr lang="en-US" sz="1300"/>
          </a:p>
        </p:txBody>
      </p:sp>
      <p:sp>
        <p:nvSpPr>
          <p:cNvPr id="24" name="Text 21"/>
          <p:cNvSpPr/>
          <p:nvPr/>
        </p:nvSpPr>
        <p:spPr>
          <a:xfrm>
            <a:off x="6299200" y="3868420"/>
            <a:ext cx="8763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>
                <a:solidFill>
                  <a:srgbClr val="0F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2nd class</a:t>
            </a:r>
            <a:endParaRPr lang="en-US" sz="1300"/>
          </a:p>
        </p:txBody>
      </p:sp>
      <p:sp>
        <p:nvSpPr>
          <p:cNvPr id="25" name="Shape 22"/>
          <p:cNvSpPr/>
          <p:nvPr/>
        </p:nvSpPr>
        <p:spPr>
          <a:xfrm>
            <a:off x="7226300" y="3869691"/>
            <a:ext cx="3416300" cy="228600"/>
          </a:xfrm>
          <a:prstGeom prst="roundRect">
            <a:avLst>
              <a:gd name="adj" fmla="val 16667"/>
            </a:avLst>
          </a:prstGeom>
          <a:solidFill>
            <a:srgbClr val="E2DACA"/>
          </a:solidFill>
          <a:ln/>
        </p:spPr>
      </p:sp>
      <p:sp>
        <p:nvSpPr>
          <p:cNvPr id="26" name="Shape 23"/>
          <p:cNvSpPr/>
          <p:nvPr/>
        </p:nvSpPr>
        <p:spPr>
          <a:xfrm>
            <a:off x="7226300" y="3869691"/>
            <a:ext cx="1479550" cy="228600"/>
          </a:xfrm>
          <a:prstGeom prst="roundRect">
            <a:avLst>
              <a:gd name="adj" fmla="val 16667"/>
            </a:avLst>
          </a:prstGeom>
          <a:solidFill>
            <a:srgbClr val="A4471F"/>
          </a:solidFill>
          <a:ln/>
        </p:spPr>
      </p:sp>
      <p:sp>
        <p:nvSpPr>
          <p:cNvPr id="27" name="Text 24"/>
          <p:cNvSpPr/>
          <p:nvPr/>
        </p:nvSpPr>
        <p:spPr>
          <a:xfrm>
            <a:off x="10693400" y="3868420"/>
            <a:ext cx="685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b="1">
                <a:solidFill>
                  <a:srgbClr val="0F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44.1%</a:t>
            </a:r>
            <a:endParaRPr lang="en-US" sz="1300"/>
          </a:p>
        </p:txBody>
      </p:sp>
      <p:sp>
        <p:nvSpPr>
          <p:cNvPr id="28" name="Text 25"/>
          <p:cNvSpPr/>
          <p:nvPr/>
        </p:nvSpPr>
        <p:spPr>
          <a:xfrm>
            <a:off x="6299200" y="4175761"/>
            <a:ext cx="8763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>
                <a:solidFill>
                  <a:srgbClr val="0F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3rd class</a:t>
            </a:r>
            <a:endParaRPr lang="en-US" sz="1300"/>
          </a:p>
        </p:txBody>
      </p:sp>
      <p:sp>
        <p:nvSpPr>
          <p:cNvPr id="29" name="Shape 26"/>
          <p:cNvSpPr/>
          <p:nvPr/>
        </p:nvSpPr>
        <p:spPr>
          <a:xfrm>
            <a:off x="7226300" y="4177030"/>
            <a:ext cx="3416300" cy="228600"/>
          </a:xfrm>
          <a:prstGeom prst="roundRect">
            <a:avLst>
              <a:gd name="adj" fmla="val 16667"/>
            </a:avLst>
          </a:prstGeom>
          <a:solidFill>
            <a:srgbClr val="E2DACA"/>
          </a:solidFill>
          <a:ln/>
        </p:spPr>
      </p:sp>
      <p:sp>
        <p:nvSpPr>
          <p:cNvPr id="30" name="Shape 27"/>
          <p:cNvSpPr/>
          <p:nvPr/>
        </p:nvSpPr>
        <p:spPr>
          <a:xfrm>
            <a:off x="7226300" y="4177030"/>
            <a:ext cx="876300" cy="228600"/>
          </a:xfrm>
          <a:prstGeom prst="roundRect">
            <a:avLst>
              <a:gd name="adj" fmla="val 16667"/>
            </a:avLst>
          </a:prstGeom>
          <a:solidFill>
            <a:srgbClr val="A4471F"/>
          </a:solidFill>
          <a:ln/>
        </p:spPr>
      </p:sp>
      <p:sp>
        <p:nvSpPr>
          <p:cNvPr id="31" name="Text 28"/>
          <p:cNvSpPr/>
          <p:nvPr/>
        </p:nvSpPr>
        <p:spPr>
          <a:xfrm>
            <a:off x="10693400" y="4175761"/>
            <a:ext cx="685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b="1">
                <a:solidFill>
                  <a:srgbClr val="0F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26.1%</a:t>
            </a:r>
            <a:endParaRPr lang="en-US" sz="1300"/>
          </a:p>
        </p:txBody>
      </p:sp>
      <p:sp>
        <p:nvSpPr>
          <p:cNvPr id="32" name="Text 29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5A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carData::TitanicSurvival, 1,309 passengers; 263 with unknown age removed, leaving n = 1,046 (overall survival 40.8%). Crew not included.</a:t>
            </a:r>
            <a:endParaRPr lang="en-US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9BE918-2E96-661D-FDA8-BAC013B90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3F50946-6393-B5DB-59CD-17020E427726}"/>
              </a:ext>
            </a:extLst>
          </p:cNvPr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>
                <a:solidFill>
                  <a:srgbClr val="C89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TO THE CAR WINDOW</a:t>
            </a:r>
            <a:endParaRPr lang="en-US" sz="14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68C4D9B-FBED-AA1D-DBF2-8FB0DA5F8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113792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>
                <a:solidFill>
                  <a:srgbClr val="F4F0E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What does the model predict for Rose and Jack?</a:t>
            </a:r>
            <a:endParaRPr lang="en-US" sz="36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21CBC45-4040-8DAA-A868-9AAED3B5F0B4}"/>
              </a:ext>
            </a:extLst>
          </p:cNvPr>
          <p:cNvSpPr/>
          <p:nvPr/>
        </p:nvSpPr>
        <p:spPr>
          <a:xfrm>
            <a:off x="812800" y="1844039"/>
            <a:ext cx="5130800" cy="1483360"/>
          </a:xfrm>
          <a:prstGeom prst="roundRect">
            <a:avLst>
              <a:gd name="adj" fmla="val 6849"/>
            </a:avLst>
          </a:prstGeom>
          <a:solidFill>
            <a:srgbClr val="182C42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89A36D8-324B-4B7F-32BF-AF3BB894511F}"/>
              </a:ext>
            </a:extLst>
          </p:cNvPr>
          <p:cNvSpPr/>
          <p:nvPr/>
        </p:nvSpPr>
        <p:spPr>
          <a:xfrm>
            <a:off x="1117600" y="2268221"/>
            <a:ext cx="1791279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>
                <a:solidFill>
                  <a:srgbClr val="F4F0E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Rose</a:t>
            </a:r>
            <a:endParaRPr lang="en-US" sz="22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5442915-9E72-6787-74D8-660A110544E6}"/>
              </a:ext>
            </a:extLst>
          </p:cNvPr>
          <p:cNvSpPr/>
          <p:nvPr/>
        </p:nvSpPr>
        <p:spPr>
          <a:xfrm>
            <a:off x="1117600" y="2654300"/>
            <a:ext cx="208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C9D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1st class · female · 17</a:t>
            </a:r>
            <a:endParaRPr lang="en-US" sz="14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37CC029-D07C-C267-1B93-4377137D6BD9}"/>
              </a:ext>
            </a:extLst>
          </p:cNvPr>
          <p:cNvSpPr/>
          <p:nvPr/>
        </p:nvSpPr>
        <p:spPr>
          <a:xfrm>
            <a:off x="4174998" y="2860039"/>
            <a:ext cx="146380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>
                <a:solidFill>
                  <a:srgbClr val="C9D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chance of survival</a:t>
            </a:r>
            <a:endParaRPr lang="en-US" sz="12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40322A2-57E8-9E2E-2A39-F7A1F1179198}"/>
              </a:ext>
            </a:extLst>
          </p:cNvPr>
          <p:cNvSpPr/>
          <p:nvPr/>
        </p:nvSpPr>
        <p:spPr>
          <a:xfrm>
            <a:off x="6248400" y="1844039"/>
            <a:ext cx="5130800" cy="1483360"/>
          </a:xfrm>
          <a:prstGeom prst="roundRect">
            <a:avLst>
              <a:gd name="adj" fmla="val 6849"/>
            </a:avLst>
          </a:prstGeom>
          <a:solidFill>
            <a:srgbClr val="182C42"/>
          </a:solidFill>
          <a:ln/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10DD34F-AC93-DEFC-3F57-18F0F178B3AB}"/>
              </a:ext>
            </a:extLst>
          </p:cNvPr>
          <p:cNvSpPr/>
          <p:nvPr/>
        </p:nvSpPr>
        <p:spPr>
          <a:xfrm>
            <a:off x="6553200" y="2268221"/>
            <a:ext cx="1661478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>
                <a:solidFill>
                  <a:srgbClr val="F4F0E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Jack</a:t>
            </a:r>
            <a:endParaRPr lang="en-US" sz="22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2EF5ACF-9075-C92A-0E85-4411C600E94E}"/>
              </a:ext>
            </a:extLst>
          </p:cNvPr>
          <p:cNvSpPr/>
          <p:nvPr/>
        </p:nvSpPr>
        <p:spPr>
          <a:xfrm>
            <a:off x="6553200" y="2654300"/>
            <a:ext cx="19328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C9D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3rd class · male · 20</a:t>
            </a:r>
            <a:endParaRPr lang="en-US" sz="14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8062A94-8591-2342-B4A7-D0759EAB75D4}"/>
              </a:ext>
            </a:extLst>
          </p:cNvPr>
          <p:cNvSpPr/>
          <p:nvPr/>
        </p:nvSpPr>
        <p:spPr>
          <a:xfrm>
            <a:off x="9610598" y="2860039"/>
            <a:ext cx="146380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>
                <a:solidFill>
                  <a:srgbClr val="C9D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chance of survival</a:t>
            </a:r>
            <a:endParaRPr lang="en-US" sz="12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F59E1C4-65B3-9F1E-038A-732B70C95F47}"/>
              </a:ext>
            </a:extLst>
          </p:cNvPr>
          <p:cNvSpPr/>
          <p:nvPr/>
        </p:nvSpPr>
        <p:spPr>
          <a:xfrm>
            <a:off x="812800" y="3530600"/>
            <a:ext cx="1088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>
                <a:solidFill>
                  <a:srgbClr val="F4F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gives </a:t>
            </a:r>
            <a:r>
              <a:rPr lang="en-US" sz="1600" b="1">
                <a:solidFill>
                  <a:srgbClr val="F4F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probabilities, not destinies</a:t>
            </a:r>
            <a:r>
              <a:rPr lang="en-US" sz="1600">
                <a:solidFill>
                  <a:srgbClr val="F4F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It learned the patterns of 1912 (the lifeboat rule, the deck you slept on), not their causes, and it knows nothing that isn’t in the table.</a:t>
            </a:r>
            <a:endParaRPr lang="en-US" sz="16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FD77A14-46F5-D5A1-7B0B-D51F0308362E}"/>
              </a:ext>
            </a:extLst>
          </p:cNvPr>
          <p:cNvSpPr/>
          <p:nvPr/>
        </p:nvSpPr>
        <p:spPr>
          <a:xfrm>
            <a:off x="812800" y="5593082"/>
            <a:ext cx="7324725" cy="452120"/>
          </a:xfrm>
          <a:prstGeom prst="roundRect">
            <a:avLst>
              <a:gd name="adj" fmla="val 50000"/>
            </a:avLst>
          </a:prstGeom>
          <a:solidFill>
            <a:srgbClr val="C8923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>
                <a:solidFill>
                  <a:srgbClr val="0F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turn: open the Titanic Shiny app, then split, fit and predict your own chances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124678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>
                <a:solidFill>
                  <a:srgbClr val="C89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TO THE CAR WINDOW</a:t>
            </a:r>
            <a:endParaRPr lang="en-US" sz="14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3792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>
                <a:solidFill>
                  <a:srgbClr val="F4F0E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What does the model predict for Rose and Jack?</a:t>
            </a:r>
            <a:endParaRPr lang="en-US" sz="3600"/>
          </a:p>
        </p:txBody>
      </p:sp>
      <p:sp>
        <p:nvSpPr>
          <p:cNvPr id="4" name="Shape 2"/>
          <p:cNvSpPr/>
          <p:nvPr/>
        </p:nvSpPr>
        <p:spPr>
          <a:xfrm>
            <a:off x="812800" y="1844039"/>
            <a:ext cx="5130800" cy="1483360"/>
          </a:xfrm>
          <a:prstGeom prst="roundRect">
            <a:avLst>
              <a:gd name="adj" fmla="val 6849"/>
            </a:avLst>
          </a:prstGeom>
          <a:solidFill>
            <a:srgbClr val="182C42"/>
          </a:solidFill>
          <a:ln/>
        </p:spPr>
      </p:sp>
      <p:sp>
        <p:nvSpPr>
          <p:cNvPr id="5" name="Text 3"/>
          <p:cNvSpPr/>
          <p:nvPr/>
        </p:nvSpPr>
        <p:spPr>
          <a:xfrm>
            <a:off x="1117600" y="2268221"/>
            <a:ext cx="1791279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>
                <a:solidFill>
                  <a:srgbClr val="F4F0E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Rose</a:t>
            </a:r>
            <a:endParaRPr lang="en-US" sz="2200"/>
          </a:p>
        </p:txBody>
      </p:sp>
      <p:sp>
        <p:nvSpPr>
          <p:cNvPr id="6" name="Text 4"/>
          <p:cNvSpPr/>
          <p:nvPr/>
        </p:nvSpPr>
        <p:spPr>
          <a:xfrm>
            <a:off x="1117600" y="2654300"/>
            <a:ext cx="208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C9D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1st class · female · 17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4114800" y="2098039"/>
            <a:ext cx="18288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>
                <a:solidFill>
                  <a:srgbClr val="C892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94%</a:t>
            </a:r>
            <a:endParaRPr lang="en-US" sz="6000"/>
          </a:p>
        </p:txBody>
      </p:sp>
      <p:sp>
        <p:nvSpPr>
          <p:cNvPr id="8" name="Text 6"/>
          <p:cNvSpPr/>
          <p:nvPr/>
        </p:nvSpPr>
        <p:spPr>
          <a:xfrm>
            <a:off x="4174998" y="2860039"/>
            <a:ext cx="146380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>
                <a:solidFill>
                  <a:srgbClr val="C9D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chance of survival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6248400" y="1844039"/>
            <a:ext cx="5130800" cy="1483360"/>
          </a:xfrm>
          <a:prstGeom prst="roundRect">
            <a:avLst>
              <a:gd name="adj" fmla="val 6849"/>
            </a:avLst>
          </a:prstGeom>
          <a:solidFill>
            <a:srgbClr val="182C42"/>
          </a:solidFill>
          <a:ln/>
        </p:spPr>
      </p:sp>
      <p:sp>
        <p:nvSpPr>
          <p:cNvPr id="10" name="Text 8"/>
          <p:cNvSpPr/>
          <p:nvPr/>
        </p:nvSpPr>
        <p:spPr>
          <a:xfrm>
            <a:off x="6553200" y="2268221"/>
            <a:ext cx="1661478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>
                <a:solidFill>
                  <a:srgbClr val="F4F0E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Jack</a:t>
            </a:r>
            <a:endParaRPr lang="en-US" sz="2200"/>
          </a:p>
        </p:txBody>
      </p:sp>
      <p:sp>
        <p:nvSpPr>
          <p:cNvPr id="11" name="Text 9"/>
          <p:cNvSpPr/>
          <p:nvPr/>
        </p:nvSpPr>
        <p:spPr>
          <a:xfrm>
            <a:off x="6553200" y="2654300"/>
            <a:ext cx="19328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C9D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3rd class · male · 20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9550400" y="2098039"/>
            <a:ext cx="18288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>
                <a:solidFill>
                  <a:srgbClr val="C892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12%</a:t>
            </a:r>
            <a:endParaRPr lang="en-US" sz="6000"/>
          </a:p>
        </p:txBody>
      </p:sp>
      <p:sp>
        <p:nvSpPr>
          <p:cNvPr id="13" name="Text 11"/>
          <p:cNvSpPr/>
          <p:nvPr/>
        </p:nvSpPr>
        <p:spPr>
          <a:xfrm>
            <a:off x="9610598" y="2860039"/>
            <a:ext cx="146380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>
                <a:solidFill>
                  <a:srgbClr val="C9D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chance of survival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812800" y="3530600"/>
            <a:ext cx="1088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>
                <a:solidFill>
                  <a:srgbClr val="F4F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gives </a:t>
            </a:r>
            <a:r>
              <a:rPr lang="en-US" sz="1600" b="1">
                <a:solidFill>
                  <a:srgbClr val="F4F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probabilities, not destinies</a:t>
            </a:r>
            <a:r>
              <a:rPr lang="en-US" sz="1600">
                <a:solidFill>
                  <a:srgbClr val="F4F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It learned the patterns of 1912 (the lifeboat rule, the deck you slept on), not their causes, and it knows nothing that isn’t in the table.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812800" y="5593082"/>
            <a:ext cx="7324725" cy="452120"/>
          </a:xfrm>
          <a:prstGeom prst="roundRect">
            <a:avLst>
              <a:gd name="adj" fmla="val 50000"/>
            </a:avLst>
          </a:prstGeom>
          <a:solidFill>
            <a:srgbClr val="C8923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>
                <a:solidFill>
                  <a:srgbClr val="0F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turn: open the Titanic Shiny app, then split, fit and predict your own chances</a:t>
            </a:r>
            <a:endParaRPr lang="en-US"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>
                <a:solidFill>
                  <a:srgbClr val="0F1E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Supervised learning: learn from labelled examples</a:t>
            </a:r>
            <a:endParaRPr lang="en-US" sz="3600"/>
          </a:p>
        </p:txBody>
      </p:sp>
      <p:sp>
        <p:nvSpPr>
          <p:cNvPr id="3" name="Shape 1"/>
          <p:cNvSpPr/>
          <p:nvPr/>
        </p:nvSpPr>
        <p:spPr>
          <a:xfrm>
            <a:off x="815975" y="1572896"/>
            <a:ext cx="5073650" cy="1131570"/>
          </a:xfrm>
          <a:prstGeom prst="roundRect">
            <a:avLst>
              <a:gd name="adj" fmla="val 7576"/>
            </a:avLst>
          </a:prstGeom>
          <a:solidFill>
            <a:srgbClr val="FBF9F4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1080" y="1727200"/>
            <a:ext cx="480334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>
                <a:solidFill>
                  <a:srgbClr val="A4471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1</a:t>
            </a:r>
            <a:r>
              <a:rPr lang="en-US" sz="1800" b="1">
                <a:solidFill>
                  <a:srgbClr val="0F1E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Split</a:t>
            </a:r>
            <a:endParaRPr lang="en-US" sz="1800"/>
          </a:p>
        </p:txBody>
      </p:sp>
      <p:sp>
        <p:nvSpPr>
          <p:cNvPr id="5" name="Text 3"/>
          <p:cNvSpPr/>
          <p:nvPr/>
        </p:nvSpPr>
        <p:spPr>
          <a:xfrm>
            <a:off x="1021080" y="2052321"/>
            <a:ext cx="4803343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3D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732 passengers to learn from (training) and 314 kept back to test: a 70 / 30 split.</a:t>
            </a:r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815975" y="2837814"/>
            <a:ext cx="5073650" cy="882650"/>
          </a:xfrm>
          <a:prstGeom prst="roundRect">
            <a:avLst>
              <a:gd name="adj" fmla="val 9712"/>
            </a:avLst>
          </a:prstGeom>
          <a:solidFill>
            <a:srgbClr val="FBF9F4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1080" y="2992121"/>
            <a:ext cx="480334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>
                <a:solidFill>
                  <a:srgbClr val="A4471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2</a:t>
            </a:r>
            <a:r>
              <a:rPr lang="en-US" sz="1800" b="1">
                <a:solidFill>
                  <a:srgbClr val="0F1E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Fit a logistic regression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1021080" y="3317239"/>
            <a:ext cx="48033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0F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log( p / (1 − p) ) = β₀ + β₁·Class + β₂·Sex + β₃·Age</a:t>
            </a:r>
            <a:endParaRPr lang="en-US" sz="1400"/>
          </a:p>
        </p:txBody>
      </p:sp>
      <p:sp>
        <p:nvSpPr>
          <p:cNvPr id="9" name="Shape 7"/>
          <p:cNvSpPr/>
          <p:nvPr/>
        </p:nvSpPr>
        <p:spPr>
          <a:xfrm>
            <a:off x="815975" y="3853814"/>
            <a:ext cx="5073650" cy="1131570"/>
          </a:xfrm>
          <a:prstGeom prst="roundRect">
            <a:avLst>
              <a:gd name="adj" fmla="val 7576"/>
            </a:avLst>
          </a:prstGeom>
          <a:solidFill>
            <a:srgbClr val="FBF9F4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1080" y="4008121"/>
            <a:ext cx="480334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>
                <a:solidFill>
                  <a:srgbClr val="A4471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3</a:t>
            </a:r>
            <a:r>
              <a:rPr lang="en-US" sz="1800" b="1">
                <a:solidFill>
                  <a:srgbClr val="0F1E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Predict</a:t>
            </a:r>
            <a:endParaRPr lang="en-US" sz="1800"/>
          </a:p>
        </p:txBody>
      </p:sp>
      <p:sp>
        <p:nvSpPr>
          <p:cNvPr id="11" name="Text 9"/>
          <p:cNvSpPr/>
          <p:nvPr/>
        </p:nvSpPr>
        <p:spPr>
          <a:xfrm>
            <a:off x="1021080" y="4333239"/>
            <a:ext cx="4803343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3D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1 / (1 + e^(−η)) turns the score η into a probability. Say “survived” if p ≥ 0.5.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6299200" y="1569721"/>
            <a:ext cx="5232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>
                <a:solidFill>
                  <a:srgbClr val="0F1E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What the model learned</a:t>
            </a:r>
            <a:endParaRPr lang="en-US" sz="200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986281"/>
          <a:ext cx="5069840" cy="1784350"/>
        </p:xfrm>
        <a:graphic>
          <a:graphicData uri="http://schemas.openxmlformats.org/drawingml/2006/table">
            <a:tbl>
              <a:tblPr/>
              <a:tblGrid>
                <a:gridCol w="2027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51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>
                          <a:solidFill>
                            <a:srgbClr val="0F1E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Compared with</a:t>
                      </a:r>
                      <a:endParaRPr lang="en-US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E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b="1">
                          <a:solidFill>
                            <a:srgbClr val="0F1E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Odds ratio</a:t>
                      </a:r>
                      <a:endParaRPr lang="en-US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5B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E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>
                          <a:solidFill>
                            <a:srgbClr val="0F1E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Odds of survival</a:t>
                      </a:r>
                      <a:endParaRPr lang="en-US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5B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>
                          <a:solidFill>
                            <a:srgbClr val="0F1E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Male vs female</a:t>
                      </a:r>
                      <a:endParaRPr lang="en-US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>
                          <a:solidFill>
                            <a:srgbClr val="0F1E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0.085</a:t>
                      </a:r>
                      <a:endParaRPr lang="en-US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>
                          <a:solidFill>
                            <a:srgbClr val="0F1E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12× lower</a:t>
                      </a:r>
                      <a:endParaRPr lang="en-US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>
                          <a:solidFill>
                            <a:srgbClr val="0F1E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2nd vs 1st class</a:t>
                      </a:r>
                      <a:endParaRPr lang="en-US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>
                          <a:solidFill>
                            <a:srgbClr val="0F1E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0.291</a:t>
                      </a:r>
                      <a:endParaRPr lang="en-US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>
                          <a:solidFill>
                            <a:srgbClr val="0F1E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3.4× lower</a:t>
                      </a:r>
                      <a:endParaRPr lang="en-US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>
                          <a:solidFill>
                            <a:srgbClr val="0F1E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3rd vs 1st class</a:t>
                      </a:r>
                      <a:endParaRPr lang="en-US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>
                          <a:solidFill>
                            <a:srgbClr val="0F1E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0.111</a:t>
                      </a:r>
                      <a:endParaRPr lang="en-US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>
                          <a:solidFill>
                            <a:srgbClr val="0F1E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9× lower</a:t>
                      </a:r>
                      <a:endParaRPr lang="en-US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>
                          <a:solidFill>
                            <a:srgbClr val="0F1E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years older</a:t>
                      </a:r>
                      <a:endParaRPr lang="en-US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>
                          <a:solidFill>
                            <a:srgbClr val="0F1E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0.736</a:t>
                      </a:r>
                      <a:endParaRPr lang="en-US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>
                          <a:solidFill>
                            <a:srgbClr val="0F1E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26% lower</a:t>
                      </a:r>
                      <a:endParaRPr lang="en-US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6299200" y="3872232"/>
            <a:ext cx="52324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3D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Odds ratio = e^β, with the other features held fixed. Below 1 means lower odds. All three features are significant (likelihood-ratio test, p &lt; 0.001).</a:t>
            </a:r>
            <a:endParaRPr lang="en-US" sz="1200"/>
          </a:p>
        </p:txBody>
      </p:sp>
      <p:sp>
        <p:nvSpPr>
          <p:cNvPr id="15" name="Text 12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5A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 glm(Survived ~ Class + Sex + Age, family = binomial), fitted on the 732 training passengers (carData::TitanicSurvival, seed 2026).</a:t>
            </a:r>
            <a:endParaRPr lang="en-US"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>
                <a:solidFill>
                  <a:srgbClr val="0F1E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Evaluate: is the model any good?</a:t>
            </a:r>
            <a:endParaRPr lang="en-US" sz="3600"/>
          </a:p>
        </p:txBody>
      </p:sp>
      <p:sp>
        <p:nvSpPr>
          <p:cNvPr id="3" name="Text 1"/>
          <p:cNvSpPr/>
          <p:nvPr/>
        </p:nvSpPr>
        <p:spPr>
          <a:xfrm>
            <a:off x="812800" y="1468121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>
                <a:solidFill>
                  <a:srgbClr val="3D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Predictions for the 314 test passengers the model has never seen</a:t>
            </a:r>
            <a:endParaRPr lang="en-US" sz="1600"/>
          </a:p>
        </p:txBody>
      </p:sp>
      <p:sp>
        <p:nvSpPr>
          <p:cNvPr id="4" name="Text 2"/>
          <p:cNvSpPr/>
          <p:nvPr/>
        </p:nvSpPr>
        <p:spPr>
          <a:xfrm>
            <a:off x="2435225" y="1905000"/>
            <a:ext cx="196215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>
                <a:solidFill>
                  <a:srgbClr val="0F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Actually died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4403725" y="1905000"/>
            <a:ext cx="196215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>
                <a:solidFill>
                  <a:srgbClr val="0F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Actually survived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812800" y="2607311"/>
            <a:ext cx="16383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>
                <a:solidFill>
                  <a:srgbClr val="0F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died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2463800" y="2199639"/>
            <a:ext cx="1905000" cy="1046480"/>
          </a:xfrm>
          <a:prstGeom prst="roundRect">
            <a:avLst>
              <a:gd name="adj" fmla="val 7282"/>
            </a:avLst>
          </a:prstGeom>
          <a:solidFill>
            <a:srgbClr val="DCE6EF"/>
          </a:solidFill>
          <a:ln/>
        </p:spPr>
      </p:sp>
      <p:sp>
        <p:nvSpPr>
          <p:cNvPr id="8" name="Text 6"/>
          <p:cNvSpPr/>
          <p:nvPr/>
        </p:nvSpPr>
        <p:spPr>
          <a:xfrm>
            <a:off x="3004820" y="2352039"/>
            <a:ext cx="82296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960"/>
              </a:lnSpc>
              <a:buNone/>
            </a:pPr>
            <a:r>
              <a:rPr lang="en-US" sz="3600" b="1">
                <a:solidFill>
                  <a:srgbClr val="0F1E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154</a:t>
            </a:r>
            <a:endParaRPr lang="en-US" sz="3600"/>
          </a:p>
        </p:txBody>
      </p:sp>
      <p:sp>
        <p:nvSpPr>
          <p:cNvPr id="9" name="Text 7"/>
          <p:cNvSpPr/>
          <p:nvPr/>
        </p:nvSpPr>
        <p:spPr>
          <a:xfrm>
            <a:off x="2814796" y="2880361"/>
            <a:ext cx="120300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3D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negatives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4432300" y="2199639"/>
            <a:ext cx="1905000" cy="1046480"/>
          </a:xfrm>
          <a:prstGeom prst="roundRect">
            <a:avLst>
              <a:gd name="adj" fmla="val 7282"/>
            </a:avLst>
          </a:prstGeom>
          <a:solidFill>
            <a:srgbClr val="F3DED3"/>
          </a:solidFill>
          <a:ln/>
        </p:spPr>
      </p:sp>
      <p:sp>
        <p:nvSpPr>
          <p:cNvPr id="11" name="Text 9"/>
          <p:cNvSpPr/>
          <p:nvPr/>
        </p:nvSpPr>
        <p:spPr>
          <a:xfrm>
            <a:off x="5110480" y="2352039"/>
            <a:ext cx="54864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960"/>
              </a:lnSpc>
              <a:buNone/>
            </a:pPr>
            <a:r>
              <a:rPr lang="en-US" sz="3600" b="1">
                <a:solidFill>
                  <a:srgbClr val="0F1E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36</a:t>
            </a:r>
            <a:endParaRPr lang="en-US" sz="3600"/>
          </a:p>
        </p:txBody>
      </p:sp>
      <p:sp>
        <p:nvSpPr>
          <p:cNvPr id="12" name="Text 10"/>
          <p:cNvSpPr/>
          <p:nvPr/>
        </p:nvSpPr>
        <p:spPr>
          <a:xfrm>
            <a:off x="4744339" y="2880361"/>
            <a:ext cx="128092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3D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negatives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812800" y="3717289"/>
            <a:ext cx="16383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>
                <a:solidFill>
                  <a:srgbClr val="0F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survived</a:t>
            </a:r>
            <a:endParaRPr lang="en-US" sz="1300"/>
          </a:p>
        </p:txBody>
      </p:sp>
      <p:sp>
        <p:nvSpPr>
          <p:cNvPr id="14" name="Shape 12"/>
          <p:cNvSpPr/>
          <p:nvPr/>
        </p:nvSpPr>
        <p:spPr>
          <a:xfrm>
            <a:off x="2463800" y="3309621"/>
            <a:ext cx="1905000" cy="1046480"/>
          </a:xfrm>
          <a:prstGeom prst="roundRect">
            <a:avLst>
              <a:gd name="adj" fmla="val 7282"/>
            </a:avLst>
          </a:prstGeom>
          <a:solidFill>
            <a:srgbClr val="F3DED3"/>
          </a:solidFill>
          <a:ln/>
        </p:spPr>
      </p:sp>
      <p:sp>
        <p:nvSpPr>
          <p:cNvPr id="15" name="Text 13"/>
          <p:cNvSpPr/>
          <p:nvPr/>
        </p:nvSpPr>
        <p:spPr>
          <a:xfrm>
            <a:off x="3141980" y="3462021"/>
            <a:ext cx="54864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960"/>
              </a:lnSpc>
              <a:buNone/>
            </a:pPr>
            <a:r>
              <a:rPr lang="en-US" sz="3600" b="1">
                <a:solidFill>
                  <a:srgbClr val="0F1E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28</a:t>
            </a:r>
            <a:endParaRPr lang="en-US" sz="3600"/>
          </a:p>
        </p:txBody>
      </p:sp>
      <p:sp>
        <p:nvSpPr>
          <p:cNvPr id="16" name="Text 14"/>
          <p:cNvSpPr/>
          <p:nvPr/>
        </p:nvSpPr>
        <p:spPr>
          <a:xfrm>
            <a:off x="2811470" y="3990339"/>
            <a:ext cx="12095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3D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positives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4432300" y="3309621"/>
            <a:ext cx="1905000" cy="1046480"/>
          </a:xfrm>
          <a:prstGeom prst="roundRect">
            <a:avLst>
              <a:gd name="adj" fmla="val 7282"/>
            </a:avLst>
          </a:prstGeom>
          <a:solidFill>
            <a:srgbClr val="DCE6EF"/>
          </a:solidFill>
          <a:ln/>
        </p:spPr>
      </p:sp>
      <p:sp>
        <p:nvSpPr>
          <p:cNvPr id="18" name="Text 16"/>
          <p:cNvSpPr/>
          <p:nvPr/>
        </p:nvSpPr>
        <p:spPr>
          <a:xfrm>
            <a:off x="5110480" y="3462021"/>
            <a:ext cx="54864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960"/>
              </a:lnSpc>
              <a:buNone/>
            </a:pPr>
            <a:r>
              <a:rPr lang="en-US" sz="3600" b="1">
                <a:solidFill>
                  <a:srgbClr val="0F1E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96</a:t>
            </a:r>
            <a:endParaRPr lang="en-US" sz="3600"/>
          </a:p>
        </p:txBody>
      </p:sp>
      <p:sp>
        <p:nvSpPr>
          <p:cNvPr id="19" name="Text 17"/>
          <p:cNvSpPr/>
          <p:nvPr/>
        </p:nvSpPr>
        <p:spPr>
          <a:xfrm>
            <a:off x="4819015" y="3990339"/>
            <a:ext cx="113157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3D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positives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6794500" y="1905000"/>
            <a:ext cx="150876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>
                <a:solidFill>
                  <a:srgbClr val="0F1E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79.6%</a:t>
            </a:r>
            <a:endParaRPr lang="en-US" sz="3600"/>
          </a:p>
        </p:txBody>
      </p:sp>
      <p:sp>
        <p:nvSpPr>
          <p:cNvPr id="21" name="Text 19"/>
          <p:cNvSpPr/>
          <p:nvPr/>
        </p:nvSpPr>
        <p:spPr>
          <a:xfrm>
            <a:off x="6794500" y="2433321"/>
            <a:ext cx="13081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3D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accuracy</a:t>
            </a:r>
            <a:endParaRPr lang="en-US" sz="120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3D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(154 + 96) / 314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8305800" y="1905000"/>
            <a:ext cx="2076609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>
                <a:solidFill>
                  <a:srgbClr val="5A667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58.0%</a:t>
            </a:r>
            <a:endParaRPr lang="en-US" sz="3600"/>
          </a:p>
        </p:txBody>
      </p:sp>
      <p:sp>
        <p:nvSpPr>
          <p:cNvPr id="23" name="Text 21"/>
          <p:cNvSpPr/>
          <p:nvPr/>
        </p:nvSpPr>
        <p:spPr>
          <a:xfrm>
            <a:off x="8305800" y="2433321"/>
            <a:ext cx="207660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3D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Baseline: always guess “died”</a:t>
            </a:r>
            <a:endParaRPr lang="en-US" sz="120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3D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182 / 314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6794500" y="3037839"/>
            <a:ext cx="472224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>
                <a:solidFill>
                  <a:srgbClr val="A44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+21.6 points better than guessing the majority class</a:t>
            </a:r>
            <a:endParaRPr lang="en-US" sz="1600"/>
          </a:p>
        </p:txBody>
      </p:sp>
      <p:sp>
        <p:nvSpPr>
          <p:cNvPr id="25" name="Text 23"/>
          <p:cNvSpPr/>
          <p:nvPr/>
        </p:nvSpPr>
        <p:spPr>
          <a:xfrm>
            <a:off x="6794500" y="3784600"/>
            <a:ext cx="1980382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>
                <a:solidFill>
                  <a:srgbClr val="0F1E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72.7%</a:t>
            </a:r>
            <a:endParaRPr lang="en-US" sz="2200"/>
          </a:p>
        </p:txBody>
      </p:sp>
      <p:sp>
        <p:nvSpPr>
          <p:cNvPr id="26" name="Text 24"/>
          <p:cNvSpPr/>
          <p:nvPr/>
        </p:nvSpPr>
        <p:spPr>
          <a:xfrm>
            <a:off x="6794500" y="4145282"/>
            <a:ext cx="198038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3D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Sensitivity: survivors spotted</a:t>
            </a:r>
            <a:endParaRPr lang="en-US" sz="120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3D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 / 132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8971200" y="3784600"/>
            <a:ext cx="1823655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>
                <a:solidFill>
                  <a:srgbClr val="0F1E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84.6%</a:t>
            </a:r>
            <a:endParaRPr lang="en-US" sz="2200"/>
          </a:p>
        </p:txBody>
      </p:sp>
      <p:sp>
        <p:nvSpPr>
          <p:cNvPr id="28" name="Text 26"/>
          <p:cNvSpPr/>
          <p:nvPr/>
        </p:nvSpPr>
        <p:spPr>
          <a:xfrm>
            <a:off x="8971200" y="4145282"/>
            <a:ext cx="1823655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3D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Specificity: deaths spotted</a:t>
            </a:r>
            <a:endParaRPr lang="en-US" sz="120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3D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154 / 182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5A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p ≥ 0.5. Test set: 314 passengers held out from carData::TitanicSurvival (70 / 30 split, seed 2026).</a:t>
            </a:r>
            <a:endParaRPr lang="en-US"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F1E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4D5C3A-E056-93A9-2A09-68C687F65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0F6579-1B73-8A1E-BC11-487A37AE672F}"/>
              </a:ext>
            </a:extLst>
          </p:cNvPr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>
                <a:solidFill>
                  <a:srgbClr val="C89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TO THE CAR WINDOW</a:t>
            </a:r>
            <a:endParaRPr lang="en-US" sz="14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B648DC5-7A51-D968-CBB4-2938B4159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113792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>
                <a:solidFill>
                  <a:srgbClr val="F4F0E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What does the model predict for Rose and Jack?</a:t>
            </a:r>
            <a:endParaRPr lang="en-US" sz="36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5134D77-DE76-E017-8DAE-F29BFD6FDEFC}"/>
              </a:ext>
            </a:extLst>
          </p:cNvPr>
          <p:cNvSpPr/>
          <p:nvPr/>
        </p:nvSpPr>
        <p:spPr>
          <a:xfrm>
            <a:off x="812800" y="1844039"/>
            <a:ext cx="5130800" cy="1483360"/>
          </a:xfrm>
          <a:prstGeom prst="roundRect">
            <a:avLst>
              <a:gd name="adj" fmla="val 6849"/>
            </a:avLst>
          </a:prstGeom>
          <a:solidFill>
            <a:srgbClr val="182C42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6818EDE-AF5C-B4E2-7EC0-B36F6A0BA4DE}"/>
              </a:ext>
            </a:extLst>
          </p:cNvPr>
          <p:cNvSpPr/>
          <p:nvPr/>
        </p:nvSpPr>
        <p:spPr>
          <a:xfrm>
            <a:off x="1117600" y="2268221"/>
            <a:ext cx="1791279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>
                <a:solidFill>
                  <a:srgbClr val="F4F0E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Rose</a:t>
            </a:r>
            <a:endParaRPr lang="en-US" sz="22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E390CEF-9DCF-BB1A-68DB-B7024BB6E220}"/>
              </a:ext>
            </a:extLst>
          </p:cNvPr>
          <p:cNvSpPr/>
          <p:nvPr/>
        </p:nvSpPr>
        <p:spPr>
          <a:xfrm>
            <a:off x="1117600" y="2654300"/>
            <a:ext cx="208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C9D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1st class · female · 17</a:t>
            </a:r>
            <a:endParaRPr lang="en-US" sz="14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D353EA3-A0AC-CFEE-ED7F-5345BA9704C9}"/>
              </a:ext>
            </a:extLst>
          </p:cNvPr>
          <p:cNvSpPr/>
          <p:nvPr/>
        </p:nvSpPr>
        <p:spPr>
          <a:xfrm>
            <a:off x="4114800" y="2098039"/>
            <a:ext cx="18288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>
                <a:solidFill>
                  <a:srgbClr val="C892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94%</a:t>
            </a:r>
            <a:endParaRPr lang="en-US" sz="60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B8C5953-4BD7-E081-D16E-2BC34B2698B2}"/>
              </a:ext>
            </a:extLst>
          </p:cNvPr>
          <p:cNvSpPr/>
          <p:nvPr/>
        </p:nvSpPr>
        <p:spPr>
          <a:xfrm>
            <a:off x="4174998" y="2860039"/>
            <a:ext cx="146380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>
                <a:solidFill>
                  <a:srgbClr val="C9D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chance of survival</a:t>
            </a:r>
            <a:endParaRPr lang="en-US" sz="12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BDB09E5-DFF9-E078-E2EA-84B78315CF07}"/>
              </a:ext>
            </a:extLst>
          </p:cNvPr>
          <p:cNvSpPr/>
          <p:nvPr/>
        </p:nvSpPr>
        <p:spPr>
          <a:xfrm>
            <a:off x="6248400" y="1844039"/>
            <a:ext cx="5130800" cy="1483360"/>
          </a:xfrm>
          <a:prstGeom prst="roundRect">
            <a:avLst>
              <a:gd name="adj" fmla="val 6849"/>
            </a:avLst>
          </a:prstGeom>
          <a:solidFill>
            <a:srgbClr val="182C42"/>
          </a:solidFill>
          <a:ln/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7D69500-D3B6-7E2A-6DA3-CDCC424F2D93}"/>
              </a:ext>
            </a:extLst>
          </p:cNvPr>
          <p:cNvSpPr/>
          <p:nvPr/>
        </p:nvSpPr>
        <p:spPr>
          <a:xfrm>
            <a:off x="6553200" y="2268221"/>
            <a:ext cx="1661478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>
                <a:solidFill>
                  <a:srgbClr val="F4F0E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Jack</a:t>
            </a:r>
            <a:endParaRPr lang="en-US" sz="22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55FF094-D2E4-9EDD-E4BF-D74766329321}"/>
              </a:ext>
            </a:extLst>
          </p:cNvPr>
          <p:cNvSpPr/>
          <p:nvPr/>
        </p:nvSpPr>
        <p:spPr>
          <a:xfrm>
            <a:off x="6553200" y="2654300"/>
            <a:ext cx="19328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C9D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3rd class · male · 20</a:t>
            </a:r>
            <a:endParaRPr lang="en-US" sz="14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DAB41DF-0E12-208B-0C3C-C83E9F523EB0}"/>
              </a:ext>
            </a:extLst>
          </p:cNvPr>
          <p:cNvSpPr/>
          <p:nvPr/>
        </p:nvSpPr>
        <p:spPr>
          <a:xfrm>
            <a:off x="9550400" y="2098039"/>
            <a:ext cx="18288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>
                <a:solidFill>
                  <a:srgbClr val="C892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12%</a:t>
            </a:r>
            <a:endParaRPr lang="en-US" sz="60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ADB97A3-AFAB-498E-21C9-DDEC8713D2FD}"/>
              </a:ext>
            </a:extLst>
          </p:cNvPr>
          <p:cNvSpPr/>
          <p:nvPr/>
        </p:nvSpPr>
        <p:spPr>
          <a:xfrm>
            <a:off x="9610598" y="2860039"/>
            <a:ext cx="146380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>
                <a:solidFill>
                  <a:srgbClr val="C9D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chance of survival</a:t>
            </a:r>
            <a:endParaRPr lang="en-US" sz="12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225FA05-85F2-F2A9-BADD-5AA68D39A382}"/>
              </a:ext>
            </a:extLst>
          </p:cNvPr>
          <p:cNvSpPr/>
          <p:nvPr/>
        </p:nvSpPr>
        <p:spPr>
          <a:xfrm>
            <a:off x="812800" y="3530600"/>
            <a:ext cx="1088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>
                <a:solidFill>
                  <a:srgbClr val="F4F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gives </a:t>
            </a:r>
            <a:r>
              <a:rPr lang="en-US" sz="1600" b="1">
                <a:solidFill>
                  <a:srgbClr val="F4F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probabilities, not destinies</a:t>
            </a:r>
            <a:r>
              <a:rPr lang="en-US" sz="1600">
                <a:solidFill>
                  <a:srgbClr val="F4F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It learned the patterns of 1912 (the lifeboat rule, the deck you slept on), not their causes, and it knows nothing that isn’t in the table.</a:t>
            </a:r>
            <a:endParaRPr lang="en-US" sz="16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DEDBC05-1924-DD02-0644-2F19B2715305}"/>
              </a:ext>
            </a:extLst>
          </p:cNvPr>
          <p:cNvSpPr/>
          <p:nvPr/>
        </p:nvSpPr>
        <p:spPr>
          <a:xfrm>
            <a:off x="812800" y="5593082"/>
            <a:ext cx="7324725" cy="452120"/>
          </a:xfrm>
          <a:prstGeom prst="roundRect">
            <a:avLst>
              <a:gd name="adj" fmla="val 50000"/>
            </a:avLst>
          </a:prstGeom>
          <a:solidFill>
            <a:srgbClr val="C8923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>
                <a:solidFill>
                  <a:srgbClr val="0F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turn: open the Titanic Shiny app, then split, fit and predict your own chances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115320522"/>
      </p:ext>
    </p:extLst>
  </p:cSld>
  <p:clrMapOvr>
    <a:masterClrMapping/>
  </p:clrMapOvr>
</p:sld>
</file>

<file path=ppt/theme/theme1.xml><?xml version="1.0" encoding="utf-8"?>
<a:theme xmlns:a="http://schemas.openxmlformats.org/drawingml/2006/main" name="Who Survives the Titanic?">
  <a:themeElements>
    <a:clrScheme name="Who Survives the Titanic?">
      <a:dk1>
        <a:srgbClr val="0F1E2E"/>
      </a:dk1>
      <a:lt1>
        <a:srgbClr val="F4F0E6"/>
      </a:lt1>
      <a:dk2>
        <a:srgbClr val="48535C"/>
      </a:dk2>
      <a:lt2>
        <a:srgbClr val="DDDBD4"/>
      </a:lt2>
      <a:accent1>
        <a:srgbClr val="A4471F"/>
      </a:accent1>
      <a:accent2>
        <a:srgbClr val="C8923A"/>
      </a:accent2>
      <a:accent3>
        <a:srgbClr val="2E5E8C"/>
      </a:accent3>
      <a:accent4>
        <a:srgbClr val="3D4A5A"/>
      </a:accent4>
      <a:accent5>
        <a:srgbClr val="C9D4DE"/>
      </a:accent5>
      <a:accent6>
        <a:srgbClr val="E2DACA"/>
      </a:accent6>
      <a:hlink>
        <a:srgbClr val="0563C1"/>
      </a:hlink>
      <a:folHlink>
        <a:srgbClr val="954F72"/>
      </a:folHlink>
    </a:clrScheme>
    <a:fontScheme name="Who Survives the Titanic?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9</Slides>
  <Notes>9</Notes>
  <HiddenSlides>3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Who Survives the Titanic?</vt:lpstr>
      <vt:lpstr>Who survives the Titanic?</vt:lpstr>
      <vt:lpstr>By the end of this session, you will be able to…</vt:lpstr>
      <vt:lpstr>The Data Science cycle</vt:lpstr>
      <vt:lpstr>From a tragedy to a table</vt:lpstr>
      <vt:lpstr>What does the model predict for Rose and Jack?</vt:lpstr>
      <vt:lpstr>What does the model predict for Rose and Jack?</vt:lpstr>
      <vt:lpstr>Supervised learning: learn from labelled examples</vt:lpstr>
      <vt:lpstr>Evaluate: is the model any good?</vt:lpstr>
      <vt:lpstr>What does the model predict for Rose and Jack?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Who Survives the Titanic?</dc:title>
  <dc:subject/>
  <dc:creator/>
  <cp:revision>21</cp:revision>
  <dcterms:created xsi:type="dcterms:W3CDTF">2026-10-27T18:56:49Z</dcterms:created>
  <dcterms:modified xsi:type="dcterms:W3CDTF">2026-10-28T08:19:01Z</dcterms:modified>
</cp:coreProperties>
</file>